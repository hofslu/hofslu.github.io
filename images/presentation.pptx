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8" r:id="rId2"/>
  </p:sldMasterIdLst>
  <p:sldIdLst>
    <p:sldId id="257" r:id="rId3"/>
    <p:sldId id="259" r:id="rId4"/>
    <p:sldId id="267" r:id="rId5"/>
    <p:sldId id="289" r:id="rId6"/>
    <p:sldId id="280" r:id="rId7"/>
    <p:sldId id="290" r:id="rId8"/>
    <p:sldId id="281" r:id="rId9"/>
    <p:sldId id="282" r:id="rId10"/>
    <p:sldId id="283" r:id="rId11"/>
    <p:sldId id="284" r:id="rId12"/>
    <p:sldId id="286" r:id="rId13"/>
    <p:sldId id="287" r:id="rId14"/>
    <p:sldId id="288" r:id="rId15"/>
    <p:sldId id="263" r:id="rId16"/>
    <p:sldId id="261" r:id="rId17"/>
    <p:sldId id="271" r:id="rId18"/>
    <p:sldId id="265" r:id="rId19"/>
    <p:sldId id="274" r:id="rId20"/>
    <p:sldId id="272" r:id="rId21"/>
    <p:sldId id="273" r:id="rId22"/>
    <p:sldId id="269" r:id="rId23"/>
    <p:sldId id="270" r:id="rId24"/>
    <p:sldId id="268" r:id="rId25"/>
    <p:sldId id="260" r:id="rId26"/>
    <p:sldId id="258" r:id="rId2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700" autoAdjust="0"/>
  </p:normalViewPr>
  <p:slideViewPr>
    <p:cSldViewPr snapToGrid="0">
      <p:cViewPr varScale="1">
        <p:scale>
          <a:sx n="108" d="100"/>
          <a:sy n="108" d="100"/>
        </p:scale>
        <p:origin x="7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DEE3CC-5C13-FA0B-F154-7E268A9C8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9423690-969E-CDD5-C959-D1E8D5C338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131B1D4-BDD6-D144-5F4A-64E4650A2A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4078FA4-DB58-AE38-1A03-F5C3A66D4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F410A-E2D1-4DC4-B9A2-15F66663BEEB}" type="datetime1">
              <a:rPr lang="de-AT" smtClean="0"/>
              <a:t>10.04.2024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DF01A81-79ED-355A-BE94-CEF62D3E6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6CB6B37-DB98-0F6D-F4CB-93430A4CE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F8BDF-0308-42D0-BC20-19EDCB70EC27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947636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C03B2D-B666-0BD2-5CA6-C0AA33A7A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B57A6C-26FB-ECA6-55B5-D6C030ADB8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67E1817-4B7C-0BB3-94AB-58E9A4BFC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224C-44B1-4BD1-900F-7C106D86DF74}" type="datetime1">
              <a:rPr lang="de-AT" smtClean="0"/>
              <a:t>10.04.2024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3EEEA8D-F972-EA16-E5BC-D97D0AF40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D4117FF-2C4F-9D4B-F768-42A7010AF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F8BDF-0308-42D0-BC20-19EDCB70EC27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879533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94240B-D73F-377A-7034-0EE7F6CCFB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4C56D6B-9627-B55D-EBBD-C7D054790E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1E20032-A93E-DBDF-39E6-ADA0937C1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DD9CC-C9D4-4C6D-9B92-61776248488A}" type="datetime1">
              <a:rPr lang="de-AT" smtClean="0"/>
              <a:t>10.04.2024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951E390-1204-B1F4-8453-70E7B0427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AB5B20D-A152-9D10-64AA-ED554289F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F8BDF-0308-42D0-BC20-19EDCB70EC27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19007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C03B2D-B666-0BD2-5CA6-C0AA33A7A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B57A6C-26FB-ECA6-55B5-D6C030ADB8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67E1817-4B7C-0BB3-94AB-58E9A4BFC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19951-E895-4906-AAFB-85CE01D7271E}" type="datetimeFigureOut">
              <a:rPr lang="de-AT" smtClean="0"/>
              <a:t>10.04.2024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3EEEA8D-F972-EA16-E5BC-D97D0AF40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D4117FF-2C4F-9D4B-F768-42A7010AF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F8BDF-0308-42D0-BC20-19EDCB70EC27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879533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26745D7-9088-51FA-EB65-4038FDF72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4F517FA-0B1C-07E1-E649-40B0CD9FDE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53F94CE-4044-FC85-4FE2-2120C03A26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67CA9F-1104-4112-87E9-65B21AAA57B5}" type="datetime1">
              <a:rPr lang="de-AT" smtClean="0"/>
              <a:t>10.04.2024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4D02085-55AA-1093-84B0-6525BE9D1B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C7F87E8-344C-5645-1A58-8301A60A01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9F8BDF-0308-42D0-BC20-19EDCB70EC27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45858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0" r:id="rId2"/>
    <p:sldLayoutId id="2147483649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26745D7-9088-51FA-EB65-4038FDF72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4F517FA-0B1C-07E1-E649-40B0CD9FDE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53F94CE-4044-FC85-4FE2-2120C03A26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19951-E895-4906-AAFB-85CE01D7271E}" type="datetimeFigureOut">
              <a:rPr lang="de-AT" smtClean="0"/>
              <a:t>10.04.2024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4D02085-55AA-1093-84B0-6525BE9D1B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C7F87E8-344C-5645-1A58-8301A60A01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9F8BDF-0308-42D0-BC20-19EDCB70EC27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45858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emojipedia.org/index-pointing-up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8D0D6D3E-D7F9-4591-9CA9-DDF4DB1F7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5F82087-0F32-78A3-F0AA-C0A98907D1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2639" y="1012536"/>
            <a:ext cx="4613300" cy="3163224"/>
          </a:xfrm>
        </p:spPr>
        <p:txBody>
          <a:bodyPr anchor="t">
            <a:normAutofit/>
          </a:bodyPr>
          <a:lstStyle/>
          <a:p>
            <a:pPr algn="l"/>
            <a:r>
              <a:rPr lang="de-AT" sz="4800">
                <a:latin typeface="Berlin Sans FB Demi" panose="020E0802020502020306" pitchFamily="34" charset="0"/>
              </a:rPr>
              <a:t> 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6CA7B0C-5458-406E-4171-C47993CF6F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9656" y="942164"/>
            <a:ext cx="7541258" cy="3738092"/>
          </a:xfrm>
        </p:spPr>
        <p:txBody>
          <a:bodyPr anchor="b">
            <a:noAutofit/>
          </a:bodyPr>
          <a:lstStyle/>
          <a:p>
            <a:pPr algn="l"/>
            <a:r>
              <a:rPr lang="de-AT" sz="3200" dirty="0">
                <a:latin typeface="Bahnschrift SemiLight SemiConde" panose="020B0502040204020203" pitchFamily="34" charset="0"/>
              </a:rPr>
              <a:t>Global </a:t>
            </a:r>
            <a:r>
              <a:rPr lang="de-AT" sz="3200" dirty="0" err="1">
                <a:latin typeface="Bahnschrift SemiLight SemiConde" panose="020B0502040204020203" pitchFamily="34" charset="0"/>
              </a:rPr>
              <a:t>Governance</a:t>
            </a:r>
            <a:r>
              <a:rPr lang="de-AT" sz="3200" dirty="0">
                <a:latin typeface="Bahnschrift SemiLight SemiConde" panose="020B0502040204020203" pitchFamily="34" charset="0"/>
              </a:rPr>
              <a:t> and AI</a:t>
            </a:r>
          </a:p>
          <a:p>
            <a:pPr algn="l"/>
            <a:r>
              <a:rPr lang="de-AT" sz="4000" dirty="0" err="1">
                <a:latin typeface="Bahnschrift SemiBold SemiConden" panose="020B0502040204020203" pitchFamily="34" charset="0"/>
              </a:rPr>
              <a:t>Existing</a:t>
            </a:r>
            <a:r>
              <a:rPr lang="de-AT" sz="4000" dirty="0">
                <a:latin typeface="Bahnschrift SemiBold SemiConden" panose="020B0502040204020203" pitchFamily="34" charset="0"/>
              </a:rPr>
              <a:t> global AI </a:t>
            </a:r>
            <a:r>
              <a:rPr lang="de-AT" sz="4000" dirty="0" err="1">
                <a:latin typeface="Bahnschrift SemiBold SemiConden" panose="020B0502040204020203" pitchFamily="34" charset="0"/>
              </a:rPr>
              <a:t>policy</a:t>
            </a:r>
            <a:r>
              <a:rPr lang="de-AT" sz="4000" dirty="0">
                <a:latin typeface="Bahnschrift SemiBold SemiConden" panose="020B0502040204020203" pitchFamily="34" charset="0"/>
              </a:rPr>
              <a:t> </a:t>
            </a:r>
            <a:r>
              <a:rPr lang="de-AT" sz="4000" dirty="0" err="1">
                <a:latin typeface="Bahnschrift SemiBold SemiConden" panose="020B0502040204020203" pitchFamily="34" charset="0"/>
              </a:rPr>
              <a:t>documents</a:t>
            </a:r>
            <a:r>
              <a:rPr lang="de-AT" sz="6600" b="1" dirty="0">
                <a:latin typeface="Bahnschrift SemiBold SemiConden" panose="020B0502040204020203" pitchFamily="34" charset="0"/>
              </a:rPr>
              <a:t> </a:t>
            </a:r>
            <a:endParaRPr lang="en-US" sz="23900" dirty="0">
              <a:solidFill>
                <a:schemeClr val="tx1">
                  <a:lumMod val="75000"/>
                  <a:lumOff val="25000"/>
                </a:schemeClr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23336" y="-3"/>
            <a:ext cx="4068664" cy="6858000"/>
          </a:xfrm>
          <a:prstGeom prst="rect">
            <a:avLst/>
          </a:prstGeom>
          <a:gradFill>
            <a:gsLst>
              <a:gs pos="26000">
                <a:srgbClr val="000000"/>
              </a:gs>
              <a:gs pos="100000">
                <a:schemeClr val="accent1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23336" y="-3"/>
            <a:ext cx="3611463" cy="6858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6000"/>
                </a:schemeClr>
              </a:gs>
              <a:gs pos="100000">
                <a:srgbClr val="000000">
                  <a:alpha val="52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230721" y="-107390"/>
            <a:ext cx="3853890" cy="4068665"/>
          </a:xfrm>
          <a:prstGeom prst="rect">
            <a:avLst/>
          </a:prstGeom>
          <a:gradFill>
            <a:gsLst>
              <a:gs pos="0">
                <a:srgbClr val="000000">
                  <a:alpha val="34000"/>
                </a:srgbClr>
              </a:gs>
              <a:gs pos="96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76AC9DCC-8C9A-4FA4-593A-EEA6FAA5AF86}"/>
              </a:ext>
            </a:extLst>
          </p:cNvPr>
          <p:cNvSpPr txBox="1"/>
          <p:nvPr/>
        </p:nvSpPr>
        <p:spPr>
          <a:xfrm>
            <a:off x="249656" y="5092362"/>
            <a:ext cx="796530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600" dirty="0"/>
              <a:t>Lukas Hofstetter,                              ,                             &amp;  Mag. Petra Koller </a:t>
            </a:r>
            <a:r>
              <a:rPr lang="de-AT" sz="1600" dirty="0" err="1"/>
              <a:t>BEd</a:t>
            </a:r>
            <a:r>
              <a:rPr lang="de-AT" sz="1600" dirty="0"/>
              <a:t>.</a:t>
            </a:r>
          </a:p>
          <a:p>
            <a:pPr algn="l"/>
            <a:r>
              <a:rPr lang="en-US" sz="1600" i="0" dirty="0">
                <a:effectLst/>
                <a:latin typeface="-apple-system"/>
              </a:rPr>
              <a:t>2024S 180168-1 Global Governance and AI</a:t>
            </a:r>
          </a:p>
          <a:p>
            <a:r>
              <a:rPr lang="de-AT" sz="1600" dirty="0"/>
              <a:t>Prof. Mark </a:t>
            </a:r>
            <a:r>
              <a:rPr lang="de-AT" sz="1600" dirty="0" err="1"/>
              <a:t>Coeckelbergh</a:t>
            </a:r>
            <a:endParaRPr lang="de-AT" sz="1600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r>
              <a:rPr lang="de-AT" sz="1600" dirty="0">
                <a:solidFill>
                  <a:srgbClr val="000000"/>
                </a:solidFill>
              </a:rPr>
              <a:t>Universität Wien 2024</a:t>
            </a:r>
            <a:endParaRPr lang="de-AT" sz="1400" dirty="0"/>
          </a:p>
          <a:p>
            <a:endParaRPr lang="de-AT" sz="160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4A4B427-8082-5D88-931C-2C717D570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F8BDF-0308-42D0-BC20-19EDCB70EC27}" type="slidenum">
              <a:rPr lang="de-AT" smtClean="0"/>
              <a:t>1</a:t>
            </a:fld>
            <a:endParaRPr lang="de-AT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4626219-12B9-AB6E-DBD9-6CCFE3D26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3547" y="239892"/>
            <a:ext cx="3974106" cy="3673779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A05F0517-A768-2C60-0A5A-593D3736D2A8}"/>
              </a:ext>
            </a:extLst>
          </p:cNvPr>
          <p:cNvSpPr txBox="1"/>
          <p:nvPr/>
        </p:nvSpPr>
        <p:spPr>
          <a:xfrm>
            <a:off x="8123333" y="3938117"/>
            <a:ext cx="56387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sz="800" dirty="0">
                <a:solidFill>
                  <a:schemeClr val="bg1"/>
                </a:solidFill>
              </a:rPr>
              <a:t>Abb. 1  Global </a:t>
            </a:r>
            <a:r>
              <a:rPr lang="de-AT" sz="800" dirty="0" err="1">
                <a:solidFill>
                  <a:schemeClr val="bg1"/>
                </a:solidFill>
              </a:rPr>
              <a:t>Governance</a:t>
            </a:r>
            <a:r>
              <a:rPr lang="de-AT" sz="800" dirty="0">
                <a:solidFill>
                  <a:schemeClr val="bg1"/>
                </a:solidFill>
              </a:rPr>
              <a:t> AI</a:t>
            </a:r>
            <a:endParaRPr lang="de-AT" sz="800" u="sng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7223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224AA2A-4BDA-B82F-CD0C-08D0325FD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02910"/>
            <a:ext cx="9582924" cy="1125297"/>
          </a:xfrm>
        </p:spPr>
        <p:txBody>
          <a:bodyPr>
            <a:normAutofit/>
          </a:bodyPr>
          <a:lstStyle/>
          <a:p>
            <a:r>
              <a:rPr lang="de-AT" sz="4000" dirty="0">
                <a:solidFill>
                  <a:srgbClr val="FFFFFF"/>
                </a:solidFill>
                <a:latin typeface="Bahnschrift SemiBold SemiConden" panose="020B0502040204020203" pitchFamily="34" charset="0"/>
              </a:rPr>
              <a:t>CONTENTS</a:t>
            </a:r>
          </a:p>
        </p:txBody>
      </p:sp>
      <p:sp>
        <p:nvSpPr>
          <p:cNvPr id="7" name="Rahmen 6">
            <a:extLst>
              <a:ext uri="{FF2B5EF4-FFF2-40B4-BE49-F238E27FC236}">
                <a16:creationId xmlns:a16="http://schemas.microsoft.com/office/drawing/2014/main" id="{C27D6D5F-4720-26E6-072A-EF84C3CA60D7}"/>
              </a:ext>
            </a:extLst>
          </p:cNvPr>
          <p:cNvSpPr/>
          <p:nvPr/>
        </p:nvSpPr>
        <p:spPr>
          <a:xfrm>
            <a:off x="1670031" y="5060635"/>
            <a:ext cx="2484592" cy="1157145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>
              <a:solidFill>
                <a:schemeClr val="tx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C6D99383-B75B-3ACB-7005-C51DCF9AA3BE}"/>
              </a:ext>
            </a:extLst>
          </p:cNvPr>
          <p:cNvSpPr txBox="1"/>
          <p:nvPr/>
        </p:nvSpPr>
        <p:spPr>
          <a:xfrm>
            <a:off x="4804545" y="2350722"/>
            <a:ext cx="2148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de-AT" sz="2800" dirty="0" err="1">
                <a:latin typeface="Bahnschrift SemiBold SemiConden" panose="020B0502040204020203" pitchFamily="34" charset="0"/>
              </a:rPr>
              <a:t>Overview</a:t>
            </a:r>
            <a:r>
              <a:rPr lang="de-AT" sz="2800" dirty="0">
                <a:latin typeface="Bahnschrift SemiBold SemiConden" panose="020B0502040204020203" pitchFamily="34" charset="0"/>
              </a:rPr>
              <a:t> </a:t>
            </a:r>
          </a:p>
        </p:txBody>
      </p:sp>
      <p:sp>
        <p:nvSpPr>
          <p:cNvPr id="19" name="Rahmen 18">
            <a:extLst>
              <a:ext uri="{FF2B5EF4-FFF2-40B4-BE49-F238E27FC236}">
                <a16:creationId xmlns:a16="http://schemas.microsoft.com/office/drawing/2014/main" id="{CAD3A2CA-AA76-01C2-529C-799DFD626343}"/>
              </a:ext>
            </a:extLst>
          </p:cNvPr>
          <p:cNvSpPr/>
          <p:nvPr/>
        </p:nvSpPr>
        <p:spPr>
          <a:xfrm>
            <a:off x="4473398" y="5024980"/>
            <a:ext cx="2702511" cy="1192800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>
              <a:solidFill>
                <a:schemeClr val="tx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21" name="Rahmen 20">
            <a:extLst>
              <a:ext uri="{FF2B5EF4-FFF2-40B4-BE49-F238E27FC236}">
                <a16:creationId xmlns:a16="http://schemas.microsoft.com/office/drawing/2014/main" id="{9BF10049-7DB7-9889-B2A6-602C59C2515F}"/>
              </a:ext>
            </a:extLst>
          </p:cNvPr>
          <p:cNvSpPr/>
          <p:nvPr/>
        </p:nvSpPr>
        <p:spPr>
          <a:xfrm>
            <a:off x="7556643" y="5015620"/>
            <a:ext cx="2597005" cy="1192800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>
              <a:solidFill>
                <a:schemeClr val="tx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23" name="Rahmen 22">
            <a:extLst>
              <a:ext uri="{FF2B5EF4-FFF2-40B4-BE49-F238E27FC236}">
                <a16:creationId xmlns:a16="http://schemas.microsoft.com/office/drawing/2014/main" id="{6DD49117-98A1-A474-3932-6675B1C2EF73}"/>
              </a:ext>
            </a:extLst>
          </p:cNvPr>
          <p:cNvSpPr/>
          <p:nvPr/>
        </p:nvSpPr>
        <p:spPr>
          <a:xfrm>
            <a:off x="5959338" y="3484676"/>
            <a:ext cx="2597004" cy="1254299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>
              <a:solidFill>
                <a:schemeClr val="tx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25" name="Rahmen 24">
            <a:extLst>
              <a:ext uri="{FF2B5EF4-FFF2-40B4-BE49-F238E27FC236}">
                <a16:creationId xmlns:a16="http://schemas.microsoft.com/office/drawing/2014/main" id="{6484C2BE-6FEB-5C74-AC35-1F625ABC5C78}"/>
              </a:ext>
            </a:extLst>
          </p:cNvPr>
          <p:cNvSpPr/>
          <p:nvPr/>
        </p:nvSpPr>
        <p:spPr>
          <a:xfrm>
            <a:off x="3135421" y="3468439"/>
            <a:ext cx="2484593" cy="1254298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>
              <a:solidFill>
                <a:schemeClr val="tx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27" name="Rahmen 26">
            <a:extLst>
              <a:ext uri="{FF2B5EF4-FFF2-40B4-BE49-F238E27FC236}">
                <a16:creationId xmlns:a16="http://schemas.microsoft.com/office/drawing/2014/main" id="{085FD121-36F9-46DF-5377-084DF822193D}"/>
              </a:ext>
            </a:extLst>
          </p:cNvPr>
          <p:cNvSpPr/>
          <p:nvPr/>
        </p:nvSpPr>
        <p:spPr>
          <a:xfrm>
            <a:off x="4578905" y="1996142"/>
            <a:ext cx="2597004" cy="1254298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>
              <a:solidFill>
                <a:schemeClr val="tx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AF17D13E-4F6F-91B5-B943-EA995AB6F7FA}"/>
              </a:ext>
            </a:extLst>
          </p:cNvPr>
          <p:cNvSpPr txBox="1"/>
          <p:nvPr/>
        </p:nvSpPr>
        <p:spPr>
          <a:xfrm>
            <a:off x="1915743" y="5088276"/>
            <a:ext cx="1993168" cy="80021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indent="0" algn="ctr">
              <a:buNone/>
            </a:pPr>
            <a:r>
              <a:rPr lang="de-AT" sz="1800" dirty="0">
                <a:latin typeface="Bahnschrift SemiBold SemiConden" panose="020B0502040204020203" pitchFamily="34" charset="0"/>
              </a:rPr>
              <a:t> </a:t>
            </a:r>
          </a:p>
          <a:p>
            <a:pPr marL="0" indent="0" algn="ctr">
              <a:buNone/>
            </a:pPr>
            <a:r>
              <a:rPr lang="de-AT" sz="2800" dirty="0" err="1">
                <a:latin typeface="Bahnschrift SemiBold SemiConden" panose="020B0502040204020203" pitchFamily="34" charset="0"/>
              </a:rPr>
              <a:t>Conclusion</a:t>
            </a:r>
            <a:endParaRPr lang="de-AT" sz="1800" dirty="0">
              <a:latin typeface="Bahnschrift SemiBold SemiConden" panose="020B0502040204020203" pitchFamily="34" charset="0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BDA2005-AC91-2CCA-A3B3-6F490C908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23984"/>
            <a:ext cx="2656428" cy="397491"/>
          </a:xfrm>
        </p:spPr>
        <p:txBody>
          <a:bodyPr/>
          <a:lstStyle/>
          <a:p>
            <a:fld id="{8D9F8BDF-0308-42D0-BC20-19EDCB70EC27}" type="slidenum">
              <a:rPr lang="de-AT" smtClean="0">
                <a:latin typeface="Bahnschrift SemiBold SemiConden" panose="020B0502040204020203" pitchFamily="34" charset="0"/>
              </a:rPr>
              <a:t>2</a:t>
            </a:fld>
            <a:endParaRPr lang="de-AT">
              <a:latin typeface="Bahnschrift SemiBold SemiConden" panose="020B0502040204020203" pitchFamily="34" charset="0"/>
            </a:endParaRP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9E50C8C3-0377-CDA1-59C7-71FFE6D102B0}"/>
              </a:ext>
            </a:extLst>
          </p:cNvPr>
          <p:cNvSpPr txBox="1"/>
          <p:nvPr/>
        </p:nvSpPr>
        <p:spPr>
          <a:xfrm>
            <a:off x="6123922" y="3852180"/>
            <a:ext cx="22678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de-AT" sz="2800" dirty="0">
                <a:latin typeface="Bahnschrift SemiBold SemiConden" panose="020B0502040204020203" pitchFamily="34" charset="0"/>
              </a:rPr>
              <a:t>GPAI</a:t>
            </a:r>
            <a:endParaRPr lang="de-AT" dirty="0">
              <a:latin typeface="Bahnschrift SemiBold SemiConden" panose="020B0502040204020203" pitchFamily="34" charset="0"/>
            </a:endParaRP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3E64EE98-568A-4CC7-205C-34DEDD9D8ED7}"/>
              </a:ext>
            </a:extLst>
          </p:cNvPr>
          <p:cNvSpPr txBox="1"/>
          <p:nvPr/>
        </p:nvSpPr>
        <p:spPr>
          <a:xfrm>
            <a:off x="3296193" y="3833978"/>
            <a:ext cx="21630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AT" sz="2800" dirty="0">
                <a:latin typeface="Bahnschrift SemiBold SemiConden" panose="020B0502040204020203" pitchFamily="34" charset="0"/>
              </a:rPr>
              <a:t>EU AI Act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71ABAB26-2959-55E1-B223-74CFD7E62AA6}"/>
              </a:ext>
            </a:extLst>
          </p:cNvPr>
          <p:cNvSpPr txBox="1"/>
          <p:nvPr/>
        </p:nvSpPr>
        <p:spPr>
          <a:xfrm>
            <a:off x="4857300" y="5359770"/>
            <a:ext cx="20402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AT" sz="2800" dirty="0" err="1">
                <a:latin typeface="Bahnschrift SemiBold SemiConden" panose="020B0502040204020203" pitchFamily="34" charset="0"/>
              </a:rPr>
              <a:t>Perspectives</a:t>
            </a:r>
            <a:endParaRPr lang="de-AT" dirty="0">
              <a:latin typeface="Bahnschrift SemiBold SemiConden" panose="020B0502040204020203" pitchFamily="34" charset="0"/>
            </a:endParaRP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A778DF21-6DB9-CD63-6B30-1AC8681F2DDB}"/>
              </a:ext>
            </a:extLst>
          </p:cNvPr>
          <p:cNvSpPr txBox="1"/>
          <p:nvPr/>
        </p:nvSpPr>
        <p:spPr>
          <a:xfrm>
            <a:off x="7977638" y="5350410"/>
            <a:ext cx="17550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de-AT" sz="2800" dirty="0" err="1">
                <a:latin typeface="Bahnschrift SemiBold SemiConden" panose="020B0502040204020203" pitchFamily="34" charset="0"/>
              </a:rPr>
              <a:t>Discussion</a:t>
            </a:r>
            <a:endParaRPr lang="de-AT" sz="1800" dirty="0">
              <a:latin typeface="Bahnschrift SemiBold SemiConden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8075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20">
            <a:extLst>
              <a:ext uri="{FF2B5EF4-FFF2-40B4-BE49-F238E27FC236}">
                <a16:creationId xmlns:a16="http://schemas.microsoft.com/office/drawing/2014/main" id="{2596F992-698C-48C0-9D89-70DA4CE92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344AAA5-41F4-4862-97EF-688D31DC7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85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9E1A62C-2AAF-4B3E-8CDB-65E2370809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2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B1D89DEE-FD9A-1245-D155-3F82F7283751}"/>
              </a:ext>
            </a:extLst>
          </p:cNvPr>
          <p:cNvSpPr txBox="1"/>
          <p:nvPr/>
        </p:nvSpPr>
        <p:spPr>
          <a:xfrm>
            <a:off x="93977" y="845910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AT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endParaRPr lang="de-AT" sz="2400" dirty="0"/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EBC87EA2-6A1C-7569-2CE3-12E8DBFE09F0}"/>
              </a:ext>
            </a:extLst>
          </p:cNvPr>
          <p:cNvSpPr txBox="1"/>
          <p:nvPr/>
        </p:nvSpPr>
        <p:spPr>
          <a:xfrm>
            <a:off x="255181" y="108639"/>
            <a:ext cx="11699578" cy="107721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endParaRPr lang="de-AT" sz="1800" b="1" dirty="0"/>
          </a:p>
          <a:p>
            <a:r>
              <a:rPr lang="de-AT" sz="2800" b="1" dirty="0"/>
              <a:t> </a:t>
            </a:r>
          </a:p>
          <a:p>
            <a:endParaRPr lang="de-AT" dirty="0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2AE13A5C-D77C-F972-7A69-258C0A62F154}"/>
              </a:ext>
            </a:extLst>
          </p:cNvPr>
          <p:cNvSpPr txBox="1"/>
          <p:nvPr/>
        </p:nvSpPr>
        <p:spPr>
          <a:xfrm>
            <a:off x="1409803" y="6487750"/>
            <a:ext cx="102095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sz="1100" i="1" spc="1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endParaRPr lang="de-AT" sz="1100" dirty="0">
              <a:solidFill>
                <a:schemeClr val="bg1"/>
              </a:solidFill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E3730661-3899-A6F5-55B1-4AB3E82F0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181" y="1394526"/>
            <a:ext cx="10374173" cy="4877481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E47290F7-552F-B45D-07B9-3F7F87E197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042" y="418827"/>
            <a:ext cx="2466232" cy="88845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226D013-92BB-3669-2736-38B60D4C569A}"/>
              </a:ext>
            </a:extLst>
          </p:cNvPr>
          <p:cNvSpPr/>
          <p:nvPr/>
        </p:nvSpPr>
        <p:spPr>
          <a:xfrm>
            <a:off x="560717" y="1837426"/>
            <a:ext cx="8065698" cy="25016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362FAC-4F8B-72D7-5349-194446E7B636}"/>
              </a:ext>
            </a:extLst>
          </p:cNvPr>
          <p:cNvSpPr/>
          <p:nvPr/>
        </p:nvSpPr>
        <p:spPr>
          <a:xfrm>
            <a:off x="549215" y="2481533"/>
            <a:ext cx="5385759" cy="25016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697075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6F97C1-F8E8-7032-D128-12BA8CE93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057" y="287783"/>
            <a:ext cx="3577702" cy="135543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8F6AA528-7A26-F11E-4B29-F05582D6E550}"/>
              </a:ext>
            </a:extLst>
          </p:cNvPr>
          <p:cNvSpPr txBox="1"/>
          <p:nvPr/>
        </p:nvSpPr>
        <p:spPr>
          <a:xfrm>
            <a:off x="51504" y="6588376"/>
            <a:ext cx="1055593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1" i="0" dirty="0">
                <a:solidFill>
                  <a:schemeClr val="bg1"/>
                </a:solidFill>
                <a:effectLst/>
                <a:latin typeface="-apple-system"/>
              </a:rPr>
              <a:t>Quelle: GPAI – Global Partnership on Artificial Intelligence: </a:t>
            </a:r>
            <a:r>
              <a:rPr lang="en-US" sz="900" dirty="0">
                <a:solidFill>
                  <a:schemeClr val="bg1"/>
                </a:solidFill>
                <a:latin typeface="-apple-system"/>
              </a:rPr>
              <a:t>https://www.gpai.ai</a:t>
            </a:r>
            <a:endParaRPr lang="en-US" sz="900" b="0" i="0" dirty="0">
              <a:solidFill>
                <a:schemeClr val="bg1"/>
              </a:solidFill>
              <a:effectLst/>
              <a:latin typeface="-apple-system"/>
            </a:endParaRPr>
          </a:p>
        </p:txBody>
      </p:sp>
      <p:sp>
        <p:nvSpPr>
          <p:cNvPr id="26" name="Textfeld 28">
            <a:extLst>
              <a:ext uri="{FF2B5EF4-FFF2-40B4-BE49-F238E27FC236}">
                <a16:creationId xmlns:a16="http://schemas.microsoft.com/office/drawing/2014/main" id="{89D9312F-A7DC-91BE-0B50-A8D7BA87DA86}"/>
              </a:ext>
            </a:extLst>
          </p:cNvPr>
          <p:cNvSpPr txBox="1"/>
          <p:nvPr/>
        </p:nvSpPr>
        <p:spPr>
          <a:xfrm>
            <a:off x="255181" y="108639"/>
            <a:ext cx="11699578" cy="8002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endParaRPr lang="de-AT" sz="1800" b="1" dirty="0"/>
          </a:p>
          <a:p>
            <a:r>
              <a:rPr lang="de-AT" sz="2800" b="1" dirty="0"/>
              <a:t> 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AF4C2B08-B7AB-44B0-601E-E035E35B7FE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2896" b="9868"/>
          <a:stretch/>
        </p:blipFill>
        <p:spPr>
          <a:xfrm>
            <a:off x="-57705" y="6401164"/>
            <a:ext cx="12325350" cy="440961"/>
          </a:xfrm>
          <a:prstGeom prst="rect">
            <a:avLst/>
          </a:prstGeom>
        </p:spPr>
      </p:pic>
      <p:sp>
        <p:nvSpPr>
          <p:cNvPr id="7" name="Textfeld 50">
            <a:extLst>
              <a:ext uri="{FF2B5EF4-FFF2-40B4-BE49-F238E27FC236}">
                <a16:creationId xmlns:a16="http://schemas.microsoft.com/office/drawing/2014/main" id="{9819DEC0-1C42-327F-5AF2-C4FBFDBB8288}"/>
              </a:ext>
            </a:extLst>
          </p:cNvPr>
          <p:cNvSpPr txBox="1"/>
          <p:nvPr/>
        </p:nvSpPr>
        <p:spPr>
          <a:xfrm>
            <a:off x="208706" y="6507336"/>
            <a:ext cx="1055593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1" i="0" dirty="0">
                <a:solidFill>
                  <a:schemeClr val="bg1"/>
                </a:solidFill>
                <a:effectLst/>
                <a:latin typeface="-apple-system"/>
              </a:rPr>
              <a:t>Quelle: EU AI Act Compliance Checker: </a:t>
            </a:r>
            <a:r>
              <a:rPr lang="en-US" sz="900" dirty="0">
                <a:solidFill>
                  <a:schemeClr val="bg1"/>
                </a:solidFill>
                <a:latin typeface="-apple-system"/>
              </a:rPr>
              <a:t>https://artificialintelligenceact.eu/assessment/eu-ai-act-compliance-checker/</a:t>
            </a:r>
          </a:p>
        </p:txBody>
      </p:sp>
      <p:pic>
        <p:nvPicPr>
          <p:cNvPr id="3" name="Untitled Video">
            <a:hlinkClick r:id="" action="ppaction://media"/>
            <a:extLst>
              <a:ext uri="{FF2B5EF4-FFF2-40B4-BE49-F238E27FC236}">
                <a16:creationId xmlns:a16="http://schemas.microsoft.com/office/drawing/2014/main" id="{7E33D4BC-0380-4C0A-305E-2695C8201AC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755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38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6F97C1-F8E8-7032-D128-12BA8CE93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057" y="287783"/>
            <a:ext cx="3577702" cy="135543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8F6AA528-7A26-F11E-4B29-F05582D6E550}"/>
              </a:ext>
            </a:extLst>
          </p:cNvPr>
          <p:cNvSpPr txBox="1"/>
          <p:nvPr/>
        </p:nvSpPr>
        <p:spPr>
          <a:xfrm>
            <a:off x="51504" y="6588376"/>
            <a:ext cx="1055593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1" i="0" dirty="0">
                <a:solidFill>
                  <a:schemeClr val="bg1"/>
                </a:solidFill>
                <a:effectLst/>
                <a:latin typeface="-apple-system"/>
              </a:rPr>
              <a:t>Quelle: GPAI – Global Partnership on Artificial Intelligence: </a:t>
            </a:r>
            <a:r>
              <a:rPr lang="en-US" sz="900" dirty="0">
                <a:solidFill>
                  <a:schemeClr val="bg1"/>
                </a:solidFill>
                <a:latin typeface="-apple-system"/>
              </a:rPr>
              <a:t>https://www.gpai.ai</a:t>
            </a:r>
            <a:endParaRPr lang="en-US" sz="900" b="0" i="0" dirty="0">
              <a:solidFill>
                <a:schemeClr val="bg1"/>
              </a:solidFill>
              <a:effectLst/>
              <a:latin typeface="-apple-system"/>
            </a:endParaRPr>
          </a:p>
        </p:txBody>
      </p:sp>
      <p:sp>
        <p:nvSpPr>
          <p:cNvPr id="26" name="Textfeld 28">
            <a:extLst>
              <a:ext uri="{FF2B5EF4-FFF2-40B4-BE49-F238E27FC236}">
                <a16:creationId xmlns:a16="http://schemas.microsoft.com/office/drawing/2014/main" id="{89D9312F-A7DC-91BE-0B50-A8D7BA87DA86}"/>
              </a:ext>
            </a:extLst>
          </p:cNvPr>
          <p:cNvSpPr txBox="1"/>
          <p:nvPr/>
        </p:nvSpPr>
        <p:spPr>
          <a:xfrm>
            <a:off x="255181" y="108639"/>
            <a:ext cx="11699578" cy="8002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endParaRPr lang="de-AT" sz="1800" b="1" dirty="0"/>
          </a:p>
          <a:p>
            <a:r>
              <a:rPr lang="de-AT" sz="2800" b="1" dirty="0"/>
              <a:t> 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AF4C2B08-B7AB-44B0-601E-E035E35B7FE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896" b="9868"/>
          <a:stretch/>
        </p:blipFill>
        <p:spPr>
          <a:xfrm>
            <a:off x="-57705" y="6401164"/>
            <a:ext cx="12325350" cy="440961"/>
          </a:xfrm>
          <a:prstGeom prst="rect">
            <a:avLst/>
          </a:prstGeom>
        </p:spPr>
      </p:pic>
      <p:pic>
        <p:nvPicPr>
          <p:cNvPr id="55" name="Picture 54" descr="A white paper with black text">
            <a:extLst>
              <a:ext uri="{FF2B5EF4-FFF2-40B4-BE49-F238E27FC236}">
                <a16:creationId xmlns:a16="http://schemas.microsoft.com/office/drawing/2014/main" id="{72D5D3D2-7A11-98D0-53F1-B6C76C5D20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370" y="249428"/>
            <a:ext cx="1428312" cy="142831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8" name="Rechteck 5">
            <a:extLst>
              <a:ext uri="{FF2B5EF4-FFF2-40B4-BE49-F238E27FC236}">
                <a16:creationId xmlns:a16="http://schemas.microsoft.com/office/drawing/2014/main" id="{4927634E-EFAB-9DB1-75D8-694EC9F70101}"/>
              </a:ext>
            </a:extLst>
          </p:cNvPr>
          <p:cNvSpPr/>
          <p:nvPr/>
        </p:nvSpPr>
        <p:spPr>
          <a:xfrm>
            <a:off x="473338" y="1697948"/>
            <a:ext cx="3691792" cy="6046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3600" dirty="0">
                <a:solidFill>
                  <a:schemeClr val="bg1"/>
                </a:solidFill>
              </a:rPr>
              <a:t>Motivation</a:t>
            </a:r>
            <a:endParaRPr lang="de-AT" dirty="0">
              <a:solidFill>
                <a:schemeClr val="bg1"/>
              </a:solidFill>
            </a:endParaRPr>
          </a:p>
        </p:txBody>
      </p:sp>
      <p:sp>
        <p:nvSpPr>
          <p:cNvPr id="7" name="Textfeld 50">
            <a:extLst>
              <a:ext uri="{FF2B5EF4-FFF2-40B4-BE49-F238E27FC236}">
                <a16:creationId xmlns:a16="http://schemas.microsoft.com/office/drawing/2014/main" id="{9819DEC0-1C42-327F-5AF2-C4FBFDBB8288}"/>
              </a:ext>
            </a:extLst>
          </p:cNvPr>
          <p:cNvSpPr txBox="1"/>
          <p:nvPr/>
        </p:nvSpPr>
        <p:spPr>
          <a:xfrm>
            <a:off x="208706" y="6507336"/>
            <a:ext cx="1055593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1" i="0" dirty="0">
                <a:solidFill>
                  <a:schemeClr val="bg1"/>
                </a:solidFill>
                <a:effectLst/>
                <a:latin typeface="-apple-system"/>
              </a:rPr>
              <a:t>Quelle: GPAI – Global Partnership on Artificial Intelligence: </a:t>
            </a:r>
            <a:r>
              <a:rPr lang="en-US" sz="900" dirty="0">
                <a:solidFill>
                  <a:schemeClr val="bg1"/>
                </a:solidFill>
                <a:latin typeface="-apple-system"/>
              </a:rPr>
              <a:t>https://www.gpai.ai</a:t>
            </a:r>
            <a:endParaRPr lang="en-US" sz="900" b="0" i="0" dirty="0">
              <a:solidFill>
                <a:schemeClr val="bg1"/>
              </a:solidFill>
              <a:effectLst/>
              <a:latin typeface="-apple-system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4099105-1B58-667A-B0BC-D02E8562B89D}"/>
              </a:ext>
            </a:extLst>
          </p:cNvPr>
          <p:cNvGrpSpPr/>
          <p:nvPr/>
        </p:nvGrpSpPr>
        <p:grpSpPr>
          <a:xfrm>
            <a:off x="1957356" y="3150880"/>
            <a:ext cx="3700806" cy="668753"/>
            <a:chOff x="5807527" y="1463221"/>
            <a:chExt cx="2874655" cy="668753"/>
          </a:xfrm>
        </p:grpSpPr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89EE2016-3D3A-AA39-E677-A60218EB58C8}"/>
                </a:ext>
              </a:extLst>
            </p:cNvPr>
            <p:cNvSpPr txBox="1"/>
            <p:nvPr/>
          </p:nvSpPr>
          <p:spPr>
            <a:xfrm>
              <a:off x="5991139" y="1588914"/>
              <a:ext cx="253402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0" i="0" dirty="0">
                  <a:solidFill>
                    <a:srgbClr val="333333"/>
                  </a:solidFill>
                  <a:effectLst/>
                  <a:latin typeface="Helvetica Neue"/>
                </a:rPr>
                <a:t>Human-centric</a:t>
              </a:r>
              <a:endParaRPr lang="de-AT" sz="2800" dirty="0">
                <a:latin typeface="Bahnschrift SemiBold SemiConden" panose="020B0502040204020203" pitchFamily="34" charset="0"/>
              </a:endParaRPr>
            </a:p>
          </p:txBody>
        </p:sp>
        <p:sp>
          <p:nvSpPr>
            <p:cNvPr id="10" name="Rahmen 26">
              <a:extLst>
                <a:ext uri="{FF2B5EF4-FFF2-40B4-BE49-F238E27FC236}">
                  <a16:creationId xmlns:a16="http://schemas.microsoft.com/office/drawing/2014/main" id="{D7601319-4500-D446-4123-C75798E8516C}"/>
                </a:ext>
              </a:extLst>
            </p:cNvPr>
            <p:cNvSpPr/>
            <p:nvPr/>
          </p:nvSpPr>
          <p:spPr>
            <a:xfrm>
              <a:off x="5807527" y="1463221"/>
              <a:ext cx="2874655" cy="668753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>
                <a:solidFill>
                  <a:schemeClr val="tx1"/>
                </a:solidFill>
                <a:latin typeface="Bahnschrift SemiBold SemiConden" panose="020B0502040204020203" pitchFamily="34" charset="0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E53064D-8744-2499-4B45-61760A149B1D}"/>
              </a:ext>
            </a:extLst>
          </p:cNvPr>
          <p:cNvGrpSpPr/>
          <p:nvPr/>
        </p:nvGrpSpPr>
        <p:grpSpPr>
          <a:xfrm>
            <a:off x="1957356" y="4264084"/>
            <a:ext cx="3700806" cy="668753"/>
            <a:chOff x="5807527" y="1463221"/>
            <a:chExt cx="2874655" cy="668753"/>
          </a:xfrm>
        </p:grpSpPr>
        <p:sp>
          <p:nvSpPr>
            <p:cNvPr id="12" name="Textfeld 8">
              <a:extLst>
                <a:ext uri="{FF2B5EF4-FFF2-40B4-BE49-F238E27FC236}">
                  <a16:creationId xmlns:a16="http://schemas.microsoft.com/office/drawing/2014/main" id="{255879AA-2EDC-EF63-B850-014A8E451227}"/>
                </a:ext>
              </a:extLst>
            </p:cNvPr>
            <p:cNvSpPr txBox="1"/>
            <p:nvPr/>
          </p:nvSpPr>
          <p:spPr>
            <a:xfrm>
              <a:off x="5991139" y="1588914"/>
              <a:ext cx="253402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0" i="0" dirty="0">
                  <a:solidFill>
                    <a:srgbClr val="333333"/>
                  </a:solidFill>
                  <a:effectLst/>
                  <a:latin typeface="Helvetica Neue"/>
                </a:rPr>
                <a:t>Ethical Development</a:t>
              </a:r>
              <a:endParaRPr lang="de-AT" sz="2800" dirty="0">
                <a:latin typeface="Bahnschrift SemiBold SemiConden" panose="020B0502040204020203" pitchFamily="34" charset="0"/>
              </a:endParaRPr>
            </a:p>
          </p:txBody>
        </p:sp>
        <p:sp>
          <p:nvSpPr>
            <p:cNvPr id="13" name="Rahmen 26">
              <a:extLst>
                <a:ext uri="{FF2B5EF4-FFF2-40B4-BE49-F238E27FC236}">
                  <a16:creationId xmlns:a16="http://schemas.microsoft.com/office/drawing/2014/main" id="{71D506AC-B156-AAD9-326A-8CE6E99BD1F7}"/>
                </a:ext>
              </a:extLst>
            </p:cNvPr>
            <p:cNvSpPr/>
            <p:nvPr/>
          </p:nvSpPr>
          <p:spPr>
            <a:xfrm>
              <a:off x="5807527" y="1463221"/>
              <a:ext cx="2874655" cy="668753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>
                <a:solidFill>
                  <a:schemeClr val="tx1"/>
                </a:solidFill>
                <a:latin typeface="Bahnschrift SemiBold SemiConden" panose="020B0502040204020203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552597D-A970-9C2B-D28B-317AA43F75EF}"/>
              </a:ext>
            </a:extLst>
          </p:cNvPr>
          <p:cNvGrpSpPr/>
          <p:nvPr/>
        </p:nvGrpSpPr>
        <p:grpSpPr>
          <a:xfrm>
            <a:off x="6779489" y="3687817"/>
            <a:ext cx="4124727" cy="668753"/>
            <a:chOff x="5807527" y="1463221"/>
            <a:chExt cx="2901249" cy="668753"/>
          </a:xfrm>
        </p:grpSpPr>
        <p:sp>
          <p:nvSpPr>
            <p:cNvPr id="15" name="Textfeld 8">
              <a:extLst>
                <a:ext uri="{FF2B5EF4-FFF2-40B4-BE49-F238E27FC236}">
                  <a16:creationId xmlns:a16="http://schemas.microsoft.com/office/drawing/2014/main" id="{C7B1F390-C49A-CFD0-E981-CEAB6D247DF3}"/>
                </a:ext>
              </a:extLst>
            </p:cNvPr>
            <p:cNvSpPr txBox="1"/>
            <p:nvPr/>
          </p:nvSpPr>
          <p:spPr>
            <a:xfrm>
              <a:off x="5807528" y="1588914"/>
              <a:ext cx="290124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0" i="0" dirty="0">
                  <a:solidFill>
                    <a:srgbClr val="333333"/>
                  </a:solidFill>
                  <a:effectLst/>
                  <a:latin typeface="Helvetica Neue"/>
                </a:rPr>
                <a:t>Regulatory and Legal Framework</a:t>
              </a:r>
              <a:endParaRPr lang="de-AT" sz="2800" dirty="0">
                <a:latin typeface="Bahnschrift SemiBold SemiConden" panose="020B0502040204020203" pitchFamily="34" charset="0"/>
              </a:endParaRPr>
            </a:p>
          </p:txBody>
        </p:sp>
        <p:sp>
          <p:nvSpPr>
            <p:cNvPr id="16" name="Rahmen 26">
              <a:extLst>
                <a:ext uri="{FF2B5EF4-FFF2-40B4-BE49-F238E27FC236}">
                  <a16:creationId xmlns:a16="http://schemas.microsoft.com/office/drawing/2014/main" id="{07E15BE5-44C9-2E72-25EA-5F9A847F495D}"/>
                </a:ext>
              </a:extLst>
            </p:cNvPr>
            <p:cNvSpPr/>
            <p:nvPr/>
          </p:nvSpPr>
          <p:spPr>
            <a:xfrm>
              <a:off x="5807527" y="1463221"/>
              <a:ext cx="2874655" cy="668753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>
                <a:solidFill>
                  <a:schemeClr val="tx1"/>
                </a:solidFill>
                <a:latin typeface="Bahnschrift SemiBold SemiConden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89722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6F97C1-F8E8-7032-D128-12BA8CE93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057" y="287783"/>
            <a:ext cx="3577702" cy="135543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8F6AA528-7A26-F11E-4B29-F05582D6E550}"/>
              </a:ext>
            </a:extLst>
          </p:cNvPr>
          <p:cNvSpPr txBox="1"/>
          <p:nvPr/>
        </p:nvSpPr>
        <p:spPr>
          <a:xfrm>
            <a:off x="51504" y="6588376"/>
            <a:ext cx="1055593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1" i="0" dirty="0">
                <a:solidFill>
                  <a:schemeClr val="bg1"/>
                </a:solidFill>
                <a:effectLst/>
                <a:latin typeface="-apple-system"/>
              </a:rPr>
              <a:t>Quelle: GPAI – Global Partnership on Artificial Intelligence: </a:t>
            </a:r>
            <a:r>
              <a:rPr lang="en-US" sz="900" dirty="0">
                <a:solidFill>
                  <a:schemeClr val="bg1"/>
                </a:solidFill>
                <a:latin typeface="-apple-system"/>
              </a:rPr>
              <a:t>https://www.gpai.ai</a:t>
            </a:r>
            <a:endParaRPr lang="en-US" sz="900" b="0" i="0" dirty="0">
              <a:solidFill>
                <a:schemeClr val="bg1"/>
              </a:solidFill>
              <a:effectLst/>
              <a:latin typeface="-apple-system"/>
            </a:endParaRPr>
          </a:p>
        </p:txBody>
      </p:sp>
      <p:sp>
        <p:nvSpPr>
          <p:cNvPr id="26" name="Textfeld 28">
            <a:extLst>
              <a:ext uri="{FF2B5EF4-FFF2-40B4-BE49-F238E27FC236}">
                <a16:creationId xmlns:a16="http://schemas.microsoft.com/office/drawing/2014/main" id="{89D9312F-A7DC-91BE-0B50-A8D7BA87DA86}"/>
              </a:ext>
            </a:extLst>
          </p:cNvPr>
          <p:cNvSpPr txBox="1"/>
          <p:nvPr/>
        </p:nvSpPr>
        <p:spPr>
          <a:xfrm>
            <a:off x="255181" y="108639"/>
            <a:ext cx="11699578" cy="8002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endParaRPr lang="de-AT" sz="1800" b="1" dirty="0"/>
          </a:p>
          <a:p>
            <a:r>
              <a:rPr lang="de-AT" sz="2800" b="1" dirty="0"/>
              <a:t>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F57D9E7-5915-DD2D-CB41-B6D0EC533E2E}"/>
              </a:ext>
            </a:extLst>
          </p:cNvPr>
          <p:cNvGrpSpPr/>
          <p:nvPr/>
        </p:nvGrpSpPr>
        <p:grpSpPr>
          <a:xfrm>
            <a:off x="1615669" y="2774452"/>
            <a:ext cx="1784263" cy="2514933"/>
            <a:chOff x="1615669" y="2774452"/>
            <a:chExt cx="1784263" cy="2514933"/>
          </a:xfrm>
        </p:grpSpPr>
        <p:sp>
          <p:nvSpPr>
            <p:cNvPr id="20" name="Rechteck: gefaltete Ecke 17">
              <a:extLst>
                <a:ext uri="{FF2B5EF4-FFF2-40B4-BE49-F238E27FC236}">
                  <a16:creationId xmlns:a16="http://schemas.microsoft.com/office/drawing/2014/main" id="{C005781E-BC26-DFDD-395A-48F6DB723351}"/>
                </a:ext>
              </a:extLst>
            </p:cNvPr>
            <p:cNvSpPr/>
            <p:nvPr/>
          </p:nvSpPr>
          <p:spPr>
            <a:xfrm>
              <a:off x="1619484" y="2774452"/>
              <a:ext cx="1780448" cy="2514933"/>
            </a:xfrm>
            <a:prstGeom prst="foldedCorne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FFFF00"/>
                  </a:solidFill>
                </a:rPr>
                <a:t>Minimal</a:t>
              </a:r>
            </a:p>
            <a:p>
              <a:pPr algn="ctr"/>
              <a:r>
                <a:rPr lang="en-US" dirty="0"/>
                <a:t>Risk</a:t>
              </a:r>
              <a:endParaRPr lang="de-AT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D56866AD-EAFC-0A9B-18E5-124952432282}"/>
                </a:ext>
              </a:extLst>
            </p:cNvPr>
            <p:cNvSpPr/>
            <p:nvPr/>
          </p:nvSpPr>
          <p:spPr>
            <a:xfrm>
              <a:off x="1615669" y="4788617"/>
              <a:ext cx="596026" cy="50076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800" b="1" dirty="0"/>
                <a:t>1</a:t>
              </a:r>
              <a:endParaRPr lang="de-AT" sz="2800" b="1" dirty="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2216C22B-09E4-2A8F-8C06-492495576838}"/>
              </a:ext>
            </a:extLst>
          </p:cNvPr>
          <p:cNvGrpSpPr/>
          <p:nvPr/>
        </p:nvGrpSpPr>
        <p:grpSpPr>
          <a:xfrm>
            <a:off x="3989144" y="2774453"/>
            <a:ext cx="1787262" cy="2516277"/>
            <a:chOff x="3989144" y="2774453"/>
            <a:chExt cx="1787262" cy="2516277"/>
          </a:xfrm>
        </p:grpSpPr>
        <p:sp>
          <p:nvSpPr>
            <p:cNvPr id="27" name="Rechteck: gefaltete Ecke 17">
              <a:extLst>
                <a:ext uri="{FF2B5EF4-FFF2-40B4-BE49-F238E27FC236}">
                  <a16:creationId xmlns:a16="http://schemas.microsoft.com/office/drawing/2014/main" id="{9FF21C25-3588-6E57-3471-62FB3A96F07C}"/>
                </a:ext>
              </a:extLst>
            </p:cNvPr>
            <p:cNvSpPr/>
            <p:nvPr/>
          </p:nvSpPr>
          <p:spPr>
            <a:xfrm>
              <a:off x="3995958" y="2774453"/>
              <a:ext cx="1780448" cy="2514933"/>
            </a:xfrm>
            <a:prstGeom prst="foldedCorne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FFFF00"/>
                  </a:solidFill>
                </a:rPr>
                <a:t>Limited</a:t>
              </a:r>
            </a:p>
            <a:p>
              <a:pPr algn="ctr"/>
              <a:r>
                <a:rPr lang="en-US" dirty="0"/>
                <a:t>Risk</a:t>
              </a:r>
              <a:endParaRPr lang="de-AT" dirty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D5C17A08-9827-4AF7-A6A1-83DCD468B03A}"/>
                </a:ext>
              </a:extLst>
            </p:cNvPr>
            <p:cNvSpPr/>
            <p:nvPr/>
          </p:nvSpPr>
          <p:spPr>
            <a:xfrm>
              <a:off x="3989144" y="4789962"/>
              <a:ext cx="596026" cy="50076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800" b="1" dirty="0"/>
                <a:t>2</a:t>
              </a:r>
              <a:endParaRPr lang="de-AT" sz="2800" b="1" dirty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BD149EB1-C406-137B-44B2-51BF149C1FFA}"/>
              </a:ext>
            </a:extLst>
          </p:cNvPr>
          <p:cNvGrpSpPr/>
          <p:nvPr/>
        </p:nvGrpSpPr>
        <p:grpSpPr>
          <a:xfrm>
            <a:off x="6369025" y="2774452"/>
            <a:ext cx="1780448" cy="2514933"/>
            <a:chOff x="6369025" y="2774452"/>
            <a:chExt cx="1780448" cy="2514933"/>
          </a:xfrm>
        </p:grpSpPr>
        <p:sp>
          <p:nvSpPr>
            <p:cNvPr id="31" name="Rechteck: gefaltete Ecke 17">
              <a:extLst>
                <a:ext uri="{FF2B5EF4-FFF2-40B4-BE49-F238E27FC236}">
                  <a16:creationId xmlns:a16="http://schemas.microsoft.com/office/drawing/2014/main" id="{4CADB403-3E48-316D-0776-CF4FB46B5EC0}"/>
                </a:ext>
              </a:extLst>
            </p:cNvPr>
            <p:cNvSpPr/>
            <p:nvPr/>
          </p:nvSpPr>
          <p:spPr>
            <a:xfrm>
              <a:off x="6369025" y="2774452"/>
              <a:ext cx="1780448" cy="2514933"/>
            </a:xfrm>
            <a:prstGeom prst="foldedCorne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FFFF00"/>
                  </a:solidFill>
                </a:rPr>
                <a:t>High</a:t>
              </a:r>
            </a:p>
            <a:p>
              <a:pPr algn="ctr"/>
              <a:r>
                <a:rPr lang="en-US" dirty="0"/>
                <a:t>Risk</a:t>
              </a:r>
              <a:endParaRPr lang="de-AT" dirty="0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632FFFE3-4958-D1FB-9BA1-A7056E475D86}"/>
                </a:ext>
              </a:extLst>
            </p:cNvPr>
            <p:cNvSpPr/>
            <p:nvPr/>
          </p:nvSpPr>
          <p:spPr>
            <a:xfrm>
              <a:off x="6369025" y="4788617"/>
              <a:ext cx="596026" cy="50076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800" b="1" dirty="0"/>
                <a:t>3</a:t>
              </a:r>
              <a:endParaRPr lang="de-AT" sz="2800" b="1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002F4247-C09D-64B9-9E47-24040938BF90}"/>
              </a:ext>
            </a:extLst>
          </p:cNvPr>
          <p:cNvGrpSpPr/>
          <p:nvPr/>
        </p:nvGrpSpPr>
        <p:grpSpPr>
          <a:xfrm>
            <a:off x="8748906" y="2774452"/>
            <a:ext cx="1780448" cy="2514933"/>
            <a:chOff x="8748906" y="2774452"/>
            <a:chExt cx="1780448" cy="2514933"/>
          </a:xfrm>
        </p:grpSpPr>
        <p:sp>
          <p:nvSpPr>
            <p:cNvPr id="33" name="Rechteck: gefaltete Ecke 17">
              <a:extLst>
                <a:ext uri="{FF2B5EF4-FFF2-40B4-BE49-F238E27FC236}">
                  <a16:creationId xmlns:a16="http://schemas.microsoft.com/office/drawing/2014/main" id="{ED2A1883-32C9-53C8-E8D4-F1CEEEDE94C1}"/>
                </a:ext>
              </a:extLst>
            </p:cNvPr>
            <p:cNvSpPr/>
            <p:nvPr/>
          </p:nvSpPr>
          <p:spPr>
            <a:xfrm>
              <a:off x="8748906" y="2774452"/>
              <a:ext cx="1780448" cy="2514933"/>
            </a:xfrm>
            <a:prstGeom prst="foldedCorne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FFFF00"/>
                  </a:solidFill>
                </a:rPr>
                <a:t>Unacceptable</a:t>
              </a:r>
            </a:p>
            <a:p>
              <a:pPr algn="ctr"/>
              <a:r>
                <a:rPr lang="en-US" dirty="0"/>
                <a:t>Risk</a:t>
              </a:r>
              <a:endParaRPr lang="de-AT" dirty="0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E2EA6F8-6078-0AF0-A357-1CFBA81E8746}"/>
                </a:ext>
              </a:extLst>
            </p:cNvPr>
            <p:cNvSpPr/>
            <p:nvPr/>
          </p:nvSpPr>
          <p:spPr>
            <a:xfrm>
              <a:off x="8748906" y="4788617"/>
              <a:ext cx="596026" cy="50076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800" b="1" dirty="0"/>
                <a:t>4</a:t>
              </a:r>
              <a:endParaRPr lang="de-AT" sz="2800" b="1" dirty="0"/>
            </a:p>
          </p:txBody>
        </p:sp>
      </p:grpSp>
      <p:pic>
        <p:nvPicPr>
          <p:cNvPr id="54" name="Picture 53">
            <a:extLst>
              <a:ext uri="{FF2B5EF4-FFF2-40B4-BE49-F238E27FC236}">
                <a16:creationId xmlns:a16="http://schemas.microsoft.com/office/drawing/2014/main" id="{AF4C2B08-B7AB-44B0-601E-E035E35B7FE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896" b="9868"/>
          <a:stretch/>
        </p:blipFill>
        <p:spPr>
          <a:xfrm>
            <a:off x="-57705" y="6401164"/>
            <a:ext cx="12325350" cy="440961"/>
          </a:xfrm>
          <a:prstGeom prst="rect">
            <a:avLst/>
          </a:prstGeom>
        </p:spPr>
      </p:pic>
      <p:pic>
        <p:nvPicPr>
          <p:cNvPr id="55" name="Picture 54" descr="A white paper with black text">
            <a:extLst>
              <a:ext uri="{FF2B5EF4-FFF2-40B4-BE49-F238E27FC236}">
                <a16:creationId xmlns:a16="http://schemas.microsoft.com/office/drawing/2014/main" id="{72D5D3D2-7A11-98D0-53F1-B6C76C5D20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370" y="249428"/>
            <a:ext cx="1428312" cy="142831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8" name="Rechteck 5">
            <a:extLst>
              <a:ext uri="{FF2B5EF4-FFF2-40B4-BE49-F238E27FC236}">
                <a16:creationId xmlns:a16="http://schemas.microsoft.com/office/drawing/2014/main" id="{4927634E-EFAB-9DB1-75D8-694EC9F70101}"/>
              </a:ext>
            </a:extLst>
          </p:cNvPr>
          <p:cNvSpPr/>
          <p:nvPr/>
        </p:nvSpPr>
        <p:spPr>
          <a:xfrm>
            <a:off x="473338" y="1697948"/>
            <a:ext cx="3691792" cy="6046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3600" dirty="0">
                <a:solidFill>
                  <a:schemeClr val="bg1"/>
                </a:solidFill>
              </a:rPr>
              <a:t>Implementation</a:t>
            </a:r>
            <a:endParaRPr lang="de-AT" dirty="0">
              <a:solidFill>
                <a:schemeClr val="bg1"/>
              </a:solidFill>
            </a:endParaRPr>
          </a:p>
        </p:txBody>
      </p:sp>
      <p:sp>
        <p:nvSpPr>
          <p:cNvPr id="7" name="Textfeld 50">
            <a:extLst>
              <a:ext uri="{FF2B5EF4-FFF2-40B4-BE49-F238E27FC236}">
                <a16:creationId xmlns:a16="http://schemas.microsoft.com/office/drawing/2014/main" id="{9819DEC0-1C42-327F-5AF2-C4FBFDBB8288}"/>
              </a:ext>
            </a:extLst>
          </p:cNvPr>
          <p:cNvSpPr txBox="1"/>
          <p:nvPr/>
        </p:nvSpPr>
        <p:spPr>
          <a:xfrm>
            <a:off x="208706" y="6507336"/>
            <a:ext cx="1055593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1" i="0" dirty="0">
                <a:solidFill>
                  <a:schemeClr val="bg1"/>
                </a:solidFill>
                <a:effectLst/>
                <a:latin typeface="-apple-system"/>
              </a:rPr>
              <a:t>Quelle: GPAI – Global Partnership on Artificial Intelligence: </a:t>
            </a:r>
            <a:r>
              <a:rPr lang="en-US" sz="900" dirty="0">
                <a:solidFill>
                  <a:schemeClr val="bg1"/>
                </a:solidFill>
                <a:latin typeface="-apple-system"/>
              </a:rPr>
              <a:t>https://www.gpai.ai</a:t>
            </a:r>
            <a:endParaRPr lang="en-US" sz="900" b="0" i="0" dirty="0">
              <a:solidFill>
                <a:schemeClr val="bg1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40741735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6F97C1-F8E8-7032-D128-12BA8CE93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057" y="287783"/>
            <a:ext cx="3577702" cy="135543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8F6AA528-7A26-F11E-4B29-F05582D6E550}"/>
              </a:ext>
            </a:extLst>
          </p:cNvPr>
          <p:cNvSpPr txBox="1"/>
          <p:nvPr/>
        </p:nvSpPr>
        <p:spPr>
          <a:xfrm>
            <a:off x="51504" y="6588376"/>
            <a:ext cx="1055593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1" i="0" dirty="0">
                <a:solidFill>
                  <a:schemeClr val="bg1"/>
                </a:solidFill>
                <a:effectLst/>
                <a:latin typeface="-apple-system"/>
              </a:rPr>
              <a:t>Quelle: GPAI – Global Partnership on Artificial Intelligence: </a:t>
            </a:r>
            <a:r>
              <a:rPr lang="en-US" sz="900" dirty="0">
                <a:solidFill>
                  <a:schemeClr val="bg1"/>
                </a:solidFill>
                <a:latin typeface="-apple-system"/>
              </a:rPr>
              <a:t>https://www.gpai.ai</a:t>
            </a:r>
            <a:endParaRPr lang="en-US" sz="900" b="0" i="0" dirty="0">
              <a:solidFill>
                <a:schemeClr val="bg1"/>
              </a:solidFill>
              <a:effectLst/>
              <a:latin typeface="-apple-system"/>
            </a:endParaRPr>
          </a:p>
        </p:txBody>
      </p:sp>
      <p:sp>
        <p:nvSpPr>
          <p:cNvPr id="26" name="Textfeld 28">
            <a:extLst>
              <a:ext uri="{FF2B5EF4-FFF2-40B4-BE49-F238E27FC236}">
                <a16:creationId xmlns:a16="http://schemas.microsoft.com/office/drawing/2014/main" id="{89D9312F-A7DC-91BE-0B50-A8D7BA87DA86}"/>
              </a:ext>
            </a:extLst>
          </p:cNvPr>
          <p:cNvSpPr txBox="1"/>
          <p:nvPr/>
        </p:nvSpPr>
        <p:spPr>
          <a:xfrm>
            <a:off x="255181" y="108639"/>
            <a:ext cx="11699578" cy="8002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endParaRPr lang="de-AT" sz="1800" b="1" dirty="0"/>
          </a:p>
          <a:p>
            <a:r>
              <a:rPr lang="de-AT" sz="2800" b="1" dirty="0"/>
              <a:t>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F57D9E7-5915-DD2D-CB41-B6D0EC533E2E}"/>
              </a:ext>
            </a:extLst>
          </p:cNvPr>
          <p:cNvGrpSpPr/>
          <p:nvPr/>
        </p:nvGrpSpPr>
        <p:grpSpPr>
          <a:xfrm>
            <a:off x="1615669" y="2774452"/>
            <a:ext cx="1784263" cy="2514933"/>
            <a:chOff x="1615669" y="2774452"/>
            <a:chExt cx="1784263" cy="2514933"/>
          </a:xfrm>
        </p:grpSpPr>
        <p:sp>
          <p:nvSpPr>
            <p:cNvPr id="20" name="Rechteck: gefaltete Ecke 17">
              <a:extLst>
                <a:ext uri="{FF2B5EF4-FFF2-40B4-BE49-F238E27FC236}">
                  <a16:creationId xmlns:a16="http://schemas.microsoft.com/office/drawing/2014/main" id="{C005781E-BC26-DFDD-395A-48F6DB723351}"/>
                </a:ext>
              </a:extLst>
            </p:cNvPr>
            <p:cNvSpPr/>
            <p:nvPr/>
          </p:nvSpPr>
          <p:spPr>
            <a:xfrm>
              <a:off x="1619484" y="2774452"/>
              <a:ext cx="1780448" cy="2514933"/>
            </a:xfrm>
            <a:prstGeom prst="foldedCorne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FFFF00"/>
                  </a:solidFill>
                </a:rPr>
                <a:t>Minimal</a:t>
              </a:r>
            </a:p>
            <a:p>
              <a:pPr algn="ctr"/>
              <a:r>
                <a:rPr lang="en-US" dirty="0"/>
                <a:t>Risk</a:t>
              </a:r>
              <a:endParaRPr lang="de-AT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D56866AD-EAFC-0A9B-18E5-124952432282}"/>
                </a:ext>
              </a:extLst>
            </p:cNvPr>
            <p:cNvSpPr/>
            <p:nvPr/>
          </p:nvSpPr>
          <p:spPr>
            <a:xfrm>
              <a:off x="1615669" y="4788617"/>
              <a:ext cx="596026" cy="50076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800" b="1" dirty="0"/>
                <a:t>1</a:t>
              </a:r>
              <a:endParaRPr lang="de-AT" sz="2800" b="1" dirty="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2216C22B-09E4-2A8F-8C06-492495576838}"/>
              </a:ext>
            </a:extLst>
          </p:cNvPr>
          <p:cNvGrpSpPr/>
          <p:nvPr/>
        </p:nvGrpSpPr>
        <p:grpSpPr>
          <a:xfrm>
            <a:off x="3989144" y="5734932"/>
            <a:ext cx="1787262" cy="2516277"/>
            <a:chOff x="3989144" y="2774453"/>
            <a:chExt cx="1787262" cy="2516277"/>
          </a:xfrm>
        </p:grpSpPr>
        <p:sp>
          <p:nvSpPr>
            <p:cNvPr id="27" name="Rechteck: gefaltete Ecke 17">
              <a:extLst>
                <a:ext uri="{FF2B5EF4-FFF2-40B4-BE49-F238E27FC236}">
                  <a16:creationId xmlns:a16="http://schemas.microsoft.com/office/drawing/2014/main" id="{9FF21C25-3588-6E57-3471-62FB3A96F07C}"/>
                </a:ext>
              </a:extLst>
            </p:cNvPr>
            <p:cNvSpPr/>
            <p:nvPr/>
          </p:nvSpPr>
          <p:spPr>
            <a:xfrm>
              <a:off x="3995958" y="2774453"/>
              <a:ext cx="1780448" cy="2514933"/>
            </a:xfrm>
            <a:prstGeom prst="foldedCorne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b="1" dirty="0">
                  <a:solidFill>
                    <a:srgbClr val="FFFF00"/>
                  </a:solidFill>
                </a:rPr>
                <a:t>Limited</a:t>
              </a:r>
            </a:p>
            <a:p>
              <a:pPr algn="ctr"/>
              <a:r>
                <a:rPr lang="en-US" dirty="0"/>
                <a:t>Risk</a:t>
              </a:r>
              <a:endParaRPr lang="de-AT" dirty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D5C17A08-9827-4AF7-A6A1-83DCD468B03A}"/>
                </a:ext>
              </a:extLst>
            </p:cNvPr>
            <p:cNvSpPr/>
            <p:nvPr/>
          </p:nvSpPr>
          <p:spPr>
            <a:xfrm>
              <a:off x="3989144" y="4789962"/>
              <a:ext cx="596026" cy="50076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800" b="1" dirty="0"/>
                <a:t>2</a:t>
              </a:r>
              <a:endParaRPr lang="de-AT" sz="2800" b="1" dirty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BD149EB1-C406-137B-44B2-51BF149C1FFA}"/>
              </a:ext>
            </a:extLst>
          </p:cNvPr>
          <p:cNvGrpSpPr/>
          <p:nvPr/>
        </p:nvGrpSpPr>
        <p:grpSpPr>
          <a:xfrm>
            <a:off x="6369025" y="5734931"/>
            <a:ext cx="1780448" cy="2514933"/>
            <a:chOff x="6369025" y="2774452"/>
            <a:chExt cx="1780448" cy="2514933"/>
          </a:xfrm>
        </p:grpSpPr>
        <p:sp>
          <p:nvSpPr>
            <p:cNvPr id="31" name="Rechteck: gefaltete Ecke 17">
              <a:extLst>
                <a:ext uri="{FF2B5EF4-FFF2-40B4-BE49-F238E27FC236}">
                  <a16:creationId xmlns:a16="http://schemas.microsoft.com/office/drawing/2014/main" id="{4CADB403-3E48-316D-0776-CF4FB46B5EC0}"/>
                </a:ext>
              </a:extLst>
            </p:cNvPr>
            <p:cNvSpPr/>
            <p:nvPr/>
          </p:nvSpPr>
          <p:spPr>
            <a:xfrm>
              <a:off x="6369025" y="2774452"/>
              <a:ext cx="1780448" cy="2514933"/>
            </a:xfrm>
            <a:prstGeom prst="foldedCorne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b="1" dirty="0">
                  <a:solidFill>
                    <a:srgbClr val="FFFF00"/>
                  </a:solidFill>
                </a:rPr>
                <a:t>High</a:t>
              </a:r>
            </a:p>
            <a:p>
              <a:pPr algn="ctr"/>
              <a:r>
                <a:rPr lang="en-US" dirty="0"/>
                <a:t>Risk</a:t>
              </a:r>
              <a:endParaRPr lang="de-AT" dirty="0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632FFFE3-4958-D1FB-9BA1-A7056E475D86}"/>
                </a:ext>
              </a:extLst>
            </p:cNvPr>
            <p:cNvSpPr/>
            <p:nvPr/>
          </p:nvSpPr>
          <p:spPr>
            <a:xfrm>
              <a:off x="6369025" y="4788617"/>
              <a:ext cx="596026" cy="50076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800" b="1" dirty="0"/>
                <a:t>3</a:t>
              </a:r>
              <a:endParaRPr lang="de-AT" sz="2800" b="1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002F4247-C09D-64B9-9E47-24040938BF90}"/>
              </a:ext>
            </a:extLst>
          </p:cNvPr>
          <p:cNvGrpSpPr/>
          <p:nvPr/>
        </p:nvGrpSpPr>
        <p:grpSpPr>
          <a:xfrm>
            <a:off x="8748906" y="5734931"/>
            <a:ext cx="1780448" cy="2514933"/>
            <a:chOff x="8748906" y="2774452"/>
            <a:chExt cx="1780448" cy="2514933"/>
          </a:xfrm>
        </p:grpSpPr>
        <p:sp>
          <p:nvSpPr>
            <p:cNvPr id="33" name="Rechteck: gefaltete Ecke 17">
              <a:extLst>
                <a:ext uri="{FF2B5EF4-FFF2-40B4-BE49-F238E27FC236}">
                  <a16:creationId xmlns:a16="http://schemas.microsoft.com/office/drawing/2014/main" id="{ED2A1883-32C9-53C8-E8D4-F1CEEEDE94C1}"/>
                </a:ext>
              </a:extLst>
            </p:cNvPr>
            <p:cNvSpPr/>
            <p:nvPr/>
          </p:nvSpPr>
          <p:spPr>
            <a:xfrm>
              <a:off x="8748906" y="2774452"/>
              <a:ext cx="1780448" cy="2514933"/>
            </a:xfrm>
            <a:prstGeom prst="foldedCorne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b="1" dirty="0">
                  <a:solidFill>
                    <a:srgbClr val="FFFF00"/>
                  </a:solidFill>
                </a:rPr>
                <a:t>Unacceptable</a:t>
              </a:r>
            </a:p>
            <a:p>
              <a:pPr algn="ctr"/>
              <a:r>
                <a:rPr lang="en-US" dirty="0"/>
                <a:t>Risk</a:t>
              </a:r>
              <a:endParaRPr lang="de-AT" dirty="0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E2EA6F8-6078-0AF0-A357-1CFBA81E8746}"/>
                </a:ext>
              </a:extLst>
            </p:cNvPr>
            <p:cNvSpPr/>
            <p:nvPr/>
          </p:nvSpPr>
          <p:spPr>
            <a:xfrm>
              <a:off x="8748906" y="4788617"/>
              <a:ext cx="596026" cy="50076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800" b="1" dirty="0"/>
                <a:t>4</a:t>
              </a:r>
              <a:endParaRPr lang="de-AT" sz="2800" b="1" dirty="0"/>
            </a:p>
          </p:txBody>
        </p:sp>
      </p:grpSp>
      <p:pic>
        <p:nvPicPr>
          <p:cNvPr id="54" name="Picture 53">
            <a:extLst>
              <a:ext uri="{FF2B5EF4-FFF2-40B4-BE49-F238E27FC236}">
                <a16:creationId xmlns:a16="http://schemas.microsoft.com/office/drawing/2014/main" id="{AF4C2B08-B7AB-44B0-601E-E035E35B7FE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896" b="9868"/>
          <a:stretch/>
        </p:blipFill>
        <p:spPr>
          <a:xfrm>
            <a:off x="-57705" y="6401164"/>
            <a:ext cx="12325350" cy="440961"/>
          </a:xfrm>
          <a:prstGeom prst="rect">
            <a:avLst/>
          </a:prstGeom>
        </p:spPr>
      </p:pic>
      <p:pic>
        <p:nvPicPr>
          <p:cNvPr id="55" name="Picture 54" descr="A white paper with black text">
            <a:extLst>
              <a:ext uri="{FF2B5EF4-FFF2-40B4-BE49-F238E27FC236}">
                <a16:creationId xmlns:a16="http://schemas.microsoft.com/office/drawing/2014/main" id="{72D5D3D2-7A11-98D0-53F1-B6C76C5D20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370" y="249428"/>
            <a:ext cx="1428312" cy="142831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8" name="Rechteck 5">
            <a:extLst>
              <a:ext uri="{FF2B5EF4-FFF2-40B4-BE49-F238E27FC236}">
                <a16:creationId xmlns:a16="http://schemas.microsoft.com/office/drawing/2014/main" id="{4927634E-EFAB-9DB1-75D8-694EC9F70101}"/>
              </a:ext>
            </a:extLst>
          </p:cNvPr>
          <p:cNvSpPr/>
          <p:nvPr/>
        </p:nvSpPr>
        <p:spPr>
          <a:xfrm>
            <a:off x="473338" y="1697948"/>
            <a:ext cx="3691792" cy="6046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3600" dirty="0">
                <a:solidFill>
                  <a:schemeClr val="bg1"/>
                </a:solidFill>
              </a:rPr>
              <a:t>Four Levels of Risk</a:t>
            </a:r>
            <a:endParaRPr lang="de-AT" dirty="0">
              <a:solidFill>
                <a:schemeClr val="bg1"/>
              </a:solidFill>
            </a:endParaRPr>
          </a:p>
        </p:txBody>
      </p:sp>
      <p:sp>
        <p:nvSpPr>
          <p:cNvPr id="7" name="Textfeld 50">
            <a:extLst>
              <a:ext uri="{FF2B5EF4-FFF2-40B4-BE49-F238E27FC236}">
                <a16:creationId xmlns:a16="http://schemas.microsoft.com/office/drawing/2014/main" id="{9819DEC0-1C42-327F-5AF2-C4FBFDBB8288}"/>
              </a:ext>
            </a:extLst>
          </p:cNvPr>
          <p:cNvSpPr txBox="1"/>
          <p:nvPr/>
        </p:nvSpPr>
        <p:spPr>
          <a:xfrm>
            <a:off x="208706" y="6507336"/>
            <a:ext cx="1055593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1" i="0" dirty="0">
                <a:solidFill>
                  <a:schemeClr val="bg1"/>
                </a:solidFill>
                <a:effectLst/>
                <a:latin typeface="-apple-system"/>
              </a:rPr>
              <a:t>Quelle: GPAI – Global Partnership on Artificial Intelligence: </a:t>
            </a:r>
            <a:r>
              <a:rPr lang="en-US" sz="900" dirty="0">
                <a:solidFill>
                  <a:schemeClr val="bg1"/>
                </a:solidFill>
                <a:latin typeface="-apple-system"/>
              </a:rPr>
              <a:t>https://www.gpai.ai</a:t>
            </a:r>
            <a:endParaRPr lang="en-US" sz="900" b="0" i="0" dirty="0">
              <a:solidFill>
                <a:schemeClr val="bg1"/>
              </a:solidFill>
              <a:effectLst/>
              <a:latin typeface="-apple-system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D7BCF13-6503-9582-4028-CCD95BCF9CDD}"/>
              </a:ext>
            </a:extLst>
          </p:cNvPr>
          <p:cNvGrpSpPr/>
          <p:nvPr/>
        </p:nvGrpSpPr>
        <p:grpSpPr>
          <a:xfrm>
            <a:off x="6369025" y="2723712"/>
            <a:ext cx="5312569" cy="1079798"/>
            <a:chOff x="5174454" y="4066678"/>
            <a:chExt cx="5312569" cy="1079798"/>
          </a:xfrm>
        </p:grpSpPr>
        <p:sp>
          <p:nvSpPr>
            <p:cNvPr id="8" name="Textfeld 8">
              <a:extLst>
                <a:ext uri="{FF2B5EF4-FFF2-40B4-BE49-F238E27FC236}">
                  <a16:creationId xmlns:a16="http://schemas.microsoft.com/office/drawing/2014/main" id="{8E87134D-83A4-6659-46A2-42EBD604B851}"/>
                </a:ext>
              </a:extLst>
            </p:cNvPr>
            <p:cNvSpPr txBox="1"/>
            <p:nvPr/>
          </p:nvSpPr>
          <p:spPr>
            <a:xfrm>
              <a:off x="5174454" y="4192369"/>
              <a:ext cx="5070993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0" i="0" dirty="0">
                  <a:solidFill>
                    <a:srgbClr val="333333"/>
                  </a:solidFill>
                  <a:effectLst/>
                  <a:latin typeface="Helvetica Neue"/>
                </a:rPr>
                <a:t>No EU Intervention required</a:t>
              </a:r>
            </a:p>
            <a:p>
              <a:pPr marL="0" indent="0" algn="ctr">
                <a:buNone/>
              </a:pPr>
              <a:r>
                <a:rPr lang="de-AT" sz="2800" dirty="0">
                  <a:latin typeface="Bahnschrift SemiBold SemiConden" panose="020B0502040204020203" pitchFamily="34" charset="0"/>
                </a:rPr>
                <a:t> </a:t>
              </a:r>
            </a:p>
          </p:txBody>
        </p:sp>
        <p:sp>
          <p:nvSpPr>
            <p:cNvPr id="9" name="Rahmen 26">
              <a:extLst>
                <a:ext uri="{FF2B5EF4-FFF2-40B4-BE49-F238E27FC236}">
                  <a16:creationId xmlns:a16="http://schemas.microsoft.com/office/drawing/2014/main" id="{02C267EA-A6AC-DD82-2985-5203B623BF50}"/>
                </a:ext>
              </a:extLst>
            </p:cNvPr>
            <p:cNvSpPr/>
            <p:nvPr/>
          </p:nvSpPr>
          <p:spPr>
            <a:xfrm>
              <a:off x="5275628" y="4066678"/>
              <a:ext cx="5211395" cy="798459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>
                <a:solidFill>
                  <a:schemeClr val="tx1"/>
                </a:solidFill>
                <a:latin typeface="Bahnschrift SemiBold SemiConden" panose="020B0502040204020203" pitchFamily="34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3960D09-10D1-7F1F-E114-B564F8EC1B05}"/>
              </a:ext>
            </a:extLst>
          </p:cNvPr>
          <p:cNvGrpSpPr/>
          <p:nvPr/>
        </p:nvGrpSpPr>
        <p:grpSpPr>
          <a:xfrm>
            <a:off x="3579209" y="3871771"/>
            <a:ext cx="5211395" cy="1208972"/>
            <a:chOff x="5275628" y="2349965"/>
            <a:chExt cx="5211395" cy="1208972"/>
          </a:xfrm>
        </p:grpSpPr>
        <p:sp>
          <p:nvSpPr>
            <p:cNvPr id="10" name="Textfeld 8">
              <a:extLst>
                <a:ext uri="{FF2B5EF4-FFF2-40B4-BE49-F238E27FC236}">
                  <a16:creationId xmlns:a16="http://schemas.microsoft.com/office/drawing/2014/main" id="{5C93DE21-0D94-B57B-0C67-CB7232666100}"/>
                </a:ext>
              </a:extLst>
            </p:cNvPr>
            <p:cNvSpPr txBox="1"/>
            <p:nvPr/>
          </p:nvSpPr>
          <p:spPr>
            <a:xfrm>
              <a:off x="5459240" y="2475656"/>
              <a:ext cx="4786207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0" i="0" dirty="0">
                  <a:solidFill>
                    <a:srgbClr val="333333"/>
                  </a:solidFill>
                  <a:effectLst/>
                  <a:latin typeface="Helvetica Neue"/>
                </a:rPr>
                <a:t>Simple applications like games or spam filters</a:t>
              </a:r>
              <a:endParaRPr lang="de-AT" sz="2800" dirty="0">
                <a:latin typeface="Bahnschrift SemiBold SemiConden" panose="020B0502040204020203" pitchFamily="34" charset="0"/>
              </a:endParaRPr>
            </a:p>
          </p:txBody>
        </p:sp>
        <p:sp>
          <p:nvSpPr>
            <p:cNvPr id="11" name="Rahmen 26">
              <a:extLst>
                <a:ext uri="{FF2B5EF4-FFF2-40B4-BE49-F238E27FC236}">
                  <a16:creationId xmlns:a16="http://schemas.microsoft.com/office/drawing/2014/main" id="{E2F451C4-A5F4-1CB6-9F3F-96F078D4CFFB}"/>
                </a:ext>
              </a:extLst>
            </p:cNvPr>
            <p:cNvSpPr/>
            <p:nvPr/>
          </p:nvSpPr>
          <p:spPr>
            <a:xfrm>
              <a:off x="5275628" y="2349965"/>
              <a:ext cx="5211395" cy="1208972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>
                <a:solidFill>
                  <a:schemeClr val="tx1"/>
                </a:solidFill>
                <a:latin typeface="Bahnschrift SemiBold SemiConden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44715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E6F23EB-EB7C-1D5D-9FA9-B1332DC9DBCB}"/>
              </a:ext>
            </a:extLst>
          </p:cNvPr>
          <p:cNvGrpSpPr/>
          <p:nvPr/>
        </p:nvGrpSpPr>
        <p:grpSpPr>
          <a:xfrm>
            <a:off x="1662646" y="5734931"/>
            <a:ext cx="1784263" cy="2514933"/>
            <a:chOff x="1615669" y="2774452"/>
            <a:chExt cx="1784263" cy="2514933"/>
          </a:xfrm>
        </p:grpSpPr>
        <p:sp>
          <p:nvSpPr>
            <p:cNvPr id="12" name="Rechteck: gefaltete Ecke 17">
              <a:extLst>
                <a:ext uri="{FF2B5EF4-FFF2-40B4-BE49-F238E27FC236}">
                  <a16:creationId xmlns:a16="http://schemas.microsoft.com/office/drawing/2014/main" id="{D94C4E29-6F0E-C12B-64D1-B03C20A8F289}"/>
                </a:ext>
              </a:extLst>
            </p:cNvPr>
            <p:cNvSpPr/>
            <p:nvPr/>
          </p:nvSpPr>
          <p:spPr>
            <a:xfrm>
              <a:off x="1619484" y="2774452"/>
              <a:ext cx="1780448" cy="2514933"/>
            </a:xfrm>
            <a:prstGeom prst="foldedCorne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b="1" dirty="0">
                  <a:solidFill>
                    <a:srgbClr val="FFFF00"/>
                  </a:solidFill>
                </a:rPr>
                <a:t>Minimal</a:t>
              </a:r>
            </a:p>
            <a:p>
              <a:pPr algn="ctr"/>
              <a:r>
                <a:rPr lang="en-US" dirty="0"/>
                <a:t>Risk</a:t>
              </a:r>
              <a:endParaRPr lang="de-AT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B9510CD-99C6-7A32-9E56-1CEAACC222E6}"/>
                </a:ext>
              </a:extLst>
            </p:cNvPr>
            <p:cNvSpPr/>
            <p:nvPr/>
          </p:nvSpPr>
          <p:spPr>
            <a:xfrm>
              <a:off x="1615669" y="4788617"/>
              <a:ext cx="596026" cy="50076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800" b="1" dirty="0"/>
                <a:t>1</a:t>
              </a:r>
              <a:endParaRPr lang="de-AT" sz="2800" b="1" dirty="0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D86F97C1-F8E8-7032-D128-12BA8CE93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057" y="287783"/>
            <a:ext cx="3577702" cy="135543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8F6AA528-7A26-F11E-4B29-F05582D6E550}"/>
              </a:ext>
            </a:extLst>
          </p:cNvPr>
          <p:cNvSpPr txBox="1"/>
          <p:nvPr/>
        </p:nvSpPr>
        <p:spPr>
          <a:xfrm>
            <a:off x="51504" y="6588376"/>
            <a:ext cx="1055593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1" i="0" dirty="0">
                <a:solidFill>
                  <a:schemeClr val="bg1"/>
                </a:solidFill>
                <a:effectLst/>
                <a:latin typeface="-apple-system"/>
              </a:rPr>
              <a:t>Quelle: GPAI – Global Partnership on Artificial Intelligence: </a:t>
            </a:r>
            <a:r>
              <a:rPr lang="en-US" sz="900" dirty="0">
                <a:solidFill>
                  <a:schemeClr val="bg1"/>
                </a:solidFill>
                <a:latin typeface="-apple-system"/>
              </a:rPr>
              <a:t>https://www.gpai.ai</a:t>
            </a:r>
            <a:endParaRPr lang="en-US" sz="900" b="0" i="0" dirty="0">
              <a:solidFill>
                <a:schemeClr val="bg1"/>
              </a:solidFill>
              <a:effectLst/>
              <a:latin typeface="-apple-system"/>
            </a:endParaRPr>
          </a:p>
        </p:txBody>
      </p:sp>
      <p:sp>
        <p:nvSpPr>
          <p:cNvPr id="26" name="Textfeld 28">
            <a:extLst>
              <a:ext uri="{FF2B5EF4-FFF2-40B4-BE49-F238E27FC236}">
                <a16:creationId xmlns:a16="http://schemas.microsoft.com/office/drawing/2014/main" id="{89D9312F-A7DC-91BE-0B50-A8D7BA87DA86}"/>
              </a:ext>
            </a:extLst>
          </p:cNvPr>
          <p:cNvSpPr txBox="1"/>
          <p:nvPr/>
        </p:nvSpPr>
        <p:spPr>
          <a:xfrm>
            <a:off x="255181" y="108639"/>
            <a:ext cx="11699578" cy="8002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endParaRPr lang="de-AT" sz="1800" b="1" dirty="0"/>
          </a:p>
          <a:p>
            <a:r>
              <a:rPr lang="de-AT" sz="2800" b="1" dirty="0"/>
              <a:t> 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5C17A08-9827-4AF7-A6A1-83DCD468B03A}"/>
              </a:ext>
            </a:extLst>
          </p:cNvPr>
          <p:cNvSpPr/>
          <p:nvPr/>
        </p:nvSpPr>
        <p:spPr>
          <a:xfrm>
            <a:off x="3989144" y="7750441"/>
            <a:ext cx="596026" cy="5007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/>
              <a:t>2</a:t>
            </a:r>
            <a:endParaRPr lang="de-AT" sz="2800" b="1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D149EB1-C406-137B-44B2-51BF149C1FFA}"/>
              </a:ext>
            </a:extLst>
          </p:cNvPr>
          <p:cNvGrpSpPr/>
          <p:nvPr/>
        </p:nvGrpSpPr>
        <p:grpSpPr>
          <a:xfrm>
            <a:off x="6369025" y="5734931"/>
            <a:ext cx="1780448" cy="2514933"/>
            <a:chOff x="6369025" y="2774452"/>
            <a:chExt cx="1780448" cy="2514933"/>
          </a:xfrm>
        </p:grpSpPr>
        <p:sp>
          <p:nvSpPr>
            <p:cNvPr id="31" name="Rechteck: gefaltete Ecke 17">
              <a:extLst>
                <a:ext uri="{FF2B5EF4-FFF2-40B4-BE49-F238E27FC236}">
                  <a16:creationId xmlns:a16="http://schemas.microsoft.com/office/drawing/2014/main" id="{4CADB403-3E48-316D-0776-CF4FB46B5EC0}"/>
                </a:ext>
              </a:extLst>
            </p:cNvPr>
            <p:cNvSpPr/>
            <p:nvPr/>
          </p:nvSpPr>
          <p:spPr>
            <a:xfrm>
              <a:off x="6369025" y="2774452"/>
              <a:ext cx="1780448" cy="2514933"/>
            </a:xfrm>
            <a:prstGeom prst="foldedCorne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b="1" dirty="0">
                  <a:solidFill>
                    <a:srgbClr val="FFFF00"/>
                  </a:solidFill>
                </a:rPr>
                <a:t>High</a:t>
              </a:r>
            </a:p>
            <a:p>
              <a:pPr algn="ctr"/>
              <a:r>
                <a:rPr lang="en-US" dirty="0"/>
                <a:t>Risk</a:t>
              </a:r>
              <a:endParaRPr lang="de-AT" dirty="0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632FFFE3-4958-D1FB-9BA1-A7056E475D86}"/>
                </a:ext>
              </a:extLst>
            </p:cNvPr>
            <p:cNvSpPr/>
            <p:nvPr/>
          </p:nvSpPr>
          <p:spPr>
            <a:xfrm>
              <a:off x="6369025" y="4788617"/>
              <a:ext cx="596026" cy="50076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800" b="1" dirty="0"/>
                <a:t>3</a:t>
              </a:r>
              <a:endParaRPr lang="de-AT" sz="2800" b="1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002F4247-C09D-64B9-9E47-24040938BF90}"/>
              </a:ext>
            </a:extLst>
          </p:cNvPr>
          <p:cNvGrpSpPr/>
          <p:nvPr/>
        </p:nvGrpSpPr>
        <p:grpSpPr>
          <a:xfrm>
            <a:off x="8748906" y="5734931"/>
            <a:ext cx="1780448" cy="2514933"/>
            <a:chOff x="8748906" y="2774452"/>
            <a:chExt cx="1780448" cy="2514933"/>
          </a:xfrm>
        </p:grpSpPr>
        <p:sp>
          <p:nvSpPr>
            <p:cNvPr id="33" name="Rechteck: gefaltete Ecke 17">
              <a:extLst>
                <a:ext uri="{FF2B5EF4-FFF2-40B4-BE49-F238E27FC236}">
                  <a16:creationId xmlns:a16="http://schemas.microsoft.com/office/drawing/2014/main" id="{ED2A1883-32C9-53C8-E8D4-F1CEEEDE94C1}"/>
                </a:ext>
              </a:extLst>
            </p:cNvPr>
            <p:cNvSpPr/>
            <p:nvPr/>
          </p:nvSpPr>
          <p:spPr>
            <a:xfrm>
              <a:off x="8748906" y="2774452"/>
              <a:ext cx="1780448" cy="2514933"/>
            </a:xfrm>
            <a:prstGeom prst="foldedCorne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b="1" dirty="0">
                  <a:solidFill>
                    <a:srgbClr val="FFFF00"/>
                  </a:solidFill>
                </a:rPr>
                <a:t>Unacceptable</a:t>
              </a:r>
            </a:p>
            <a:p>
              <a:pPr algn="ctr"/>
              <a:r>
                <a:rPr lang="en-US" dirty="0"/>
                <a:t>Risk</a:t>
              </a:r>
              <a:endParaRPr lang="de-AT" dirty="0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E2EA6F8-6078-0AF0-A357-1CFBA81E8746}"/>
                </a:ext>
              </a:extLst>
            </p:cNvPr>
            <p:cNvSpPr/>
            <p:nvPr/>
          </p:nvSpPr>
          <p:spPr>
            <a:xfrm>
              <a:off x="8748906" y="4788617"/>
              <a:ext cx="596026" cy="50076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800" b="1" dirty="0"/>
                <a:t>4</a:t>
              </a:r>
              <a:endParaRPr lang="de-AT" sz="2800" b="1" dirty="0"/>
            </a:p>
          </p:txBody>
        </p:sp>
      </p:grpSp>
      <p:pic>
        <p:nvPicPr>
          <p:cNvPr id="54" name="Picture 53">
            <a:extLst>
              <a:ext uri="{FF2B5EF4-FFF2-40B4-BE49-F238E27FC236}">
                <a16:creationId xmlns:a16="http://schemas.microsoft.com/office/drawing/2014/main" id="{AF4C2B08-B7AB-44B0-601E-E035E35B7FE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896" b="9868"/>
          <a:stretch/>
        </p:blipFill>
        <p:spPr>
          <a:xfrm>
            <a:off x="-57705" y="6401164"/>
            <a:ext cx="12325350" cy="440961"/>
          </a:xfrm>
          <a:prstGeom prst="rect">
            <a:avLst/>
          </a:prstGeom>
        </p:spPr>
      </p:pic>
      <p:pic>
        <p:nvPicPr>
          <p:cNvPr id="55" name="Picture 54" descr="A white paper with black text">
            <a:extLst>
              <a:ext uri="{FF2B5EF4-FFF2-40B4-BE49-F238E27FC236}">
                <a16:creationId xmlns:a16="http://schemas.microsoft.com/office/drawing/2014/main" id="{72D5D3D2-7A11-98D0-53F1-B6C76C5D20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370" y="249428"/>
            <a:ext cx="1428312" cy="142831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8" name="Rechteck 5">
            <a:extLst>
              <a:ext uri="{FF2B5EF4-FFF2-40B4-BE49-F238E27FC236}">
                <a16:creationId xmlns:a16="http://schemas.microsoft.com/office/drawing/2014/main" id="{4927634E-EFAB-9DB1-75D8-694EC9F70101}"/>
              </a:ext>
            </a:extLst>
          </p:cNvPr>
          <p:cNvSpPr/>
          <p:nvPr/>
        </p:nvSpPr>
        <p:spPr>
          <a:xfrm>
            <a:off x="473338" y="1697948"/>
            <a:ext cx="3691792" cy="6046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3600" dirty="0">
                <a:solidFill>
                  <a:schemeClr val="bg1"/>
                </a:solidFill>
              </a:rPr>
              <a:t>Four Levels of Risk</a:t>
            </a:r>
            <a:endParaRPr lang="de-AT" dirty="0">
              <a:solidFill>
                <a:schemeClr val="bg1"/>
              </a:solidFill>
            </a:endParaRPr>
          </a:p>
        </p:txBody>
      </p:sp>
      <p:sp>
        <p:nvSpPr>
          <p:cNvPr id="7" name="Textfeld 50">
            <a:extLst>
              <a:ext uri="{FF2B5EF4-FFF2-40B4-BE49-F238E27FC236}">
                <a16:creationId xmlns:a16="http://schemas.microsoft.com/office/drawing/2014/main" id="{9819DEC0-1C42-327F-5AF2-C4FBFDBB8288}"/>
              </a:ext>
            </a:extLst>
          </p:cNvPr>
          <p:cNvSpPr txBox="1"/>
          <p:nvPr/>
        </p:nvSpPr>
        <p:spPr>
          <a:xfrm>
            <a:off x="208706" y="6507336"/>
            <a:ext cx="1055593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1" i="0" dirty="0">
                <a:solidFill>
                  <a:schemeClr val="bg1"/>
                </a:solidFill>
                <a:effectLst/>
                <a:latin typeface="-apple-system"/>
              </a:rPr>
              <a:t>Quelle: GPAI – Global Partnership on Artificial Intelligence: </a:t>
            </a:r>
            <a:r>
              <a:rPr lang="en-US" sz="900" dirty="0">
                <a:solidFill>
                  <a:schemeClr val="bg1"/>
                </a:solidFill>
                <a:latin typeface="-apple-system"/>
              </a:rPr>
              <a:t>https://www.gpai.ai</a:t>
            </a:r>
            <a:endParaRPr lang="en-US" sz="900" b="0" i="0" dirty="0">
              <a:solidFill>
                <a:schemeClr val="bg1"/>
              </a:solidFill>
              <a:effectLst/>
              <a:latin typeface="-apple-system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4FA687E-0317-3B16-9634-D287DF95D6D6}"/>
              </a:ext>
            </a:extLst>
          </p:cNvPr>
          <p:cNvGrpSpPr/>
          <p:nvPr/>
        </p:nvGrpSpPr>
        <p:grpSpPr>
          <a:xfrm>
            <a:off x="3989144" y="2774453"/>
            <a:ext cx="1787262" cy="2516277"/>
            <a:chOff x="3989144" y="2774453"/>
            <a:chExt cx="1787262" cy="2516277"/>
          </a:xfrm>
        </p:grpSpPr>
        <p:sp>
          <p:nvSpPr>
            <p:cNvPr id="9" name="Rechteck: gefaltete Ecke 17">
              <a:extLst>
                <a:ext uri="{FF2B5EF4-FFF2-40B4-BE49-F238E27FC236}">
                  <a16:creationId xmlns:a16="http://schemas.microsoft.com/office/drawing/2014/main" id="{FFA2FFEB-BA11-55F6-FD63-6C7CDD343612}"/>
                </a:ext>
              </a:extLst>
            </p:cNvPr>
            <p:cNvSpPr/>
            <p:nvPr/>
          </p:nvSpPr>
          <p:spPr>
            <a:xfrm>
              <a:off x="3995958" y="2774453"/>
              <a:ext cx="1780448" cy="2514933"/>
            </a:xfrm>
            <a:prstGeom prst="foldedCorne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FFFF00"/>
                  </a:solidFill>
                </a:rPr>
                <a:t>Limited</a:t>
              </a:r>
            </a:p>
            <a:p>
              <a:pPr algn="ctr"/>
              <a:r>
                <a:rPr lang="en-US" dirty="0"/>
                <a:t>Risk</a:t>
              </a:r>
              <a:endParaRPr lang="de-AT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B616E43-3744-5309-95A8-8E2C217B0E54}"/>
                </a:ext>
              </a:extLst>
            </p:cNvPr>
            <p:cNvSpPr/>
            <p:nvPr/>
          </p:nvSpPr>
          <p:spPr>
            <a:xfrm>
              <a:off x="3989144" y="4789962"/>
              <a:ext cx="596026" cy="50076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800" b="1" dirty="0"/>
                <a:t>2</a:t>
              </a:r>
              <a:endParaRPr lang="de-AT" sz="2800" b="1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E9E06CE-2ABA-C58F-2C65-7FFD3D94E940}"/>
              </a:ext>
            </a:extLst>
          </p:cNvPr>
          <p:cNvGrpSpPr/>
          <p:nvPr/>
        </p:nvGrpSpPr>
        <p:grpSpPr>
          <a:xfrm>
            <a:off x="784691" y="3022288"/>
            <a:ext cx="2662218" cy="1079800"/>
            <a:chOff x="5807527" y="1463221"/>
            <a:chExt cx="2874655" cy="1079800"/>
          </a:xfrm>
        </p:grpSpPr>
        <p:sp>
          <p:nvSpPr>
            <p:cNvPr id="3" name="Textfeld 8">
              <a:extLst>
                <a:ext uri="{FF2B5EF4-FFF2-40B4-BE49-F238E27FC236}">
                  <a16:creationId xmlns:a16="http://schemas.microsoft.com/office/drawing/2014/main" id="{126E6B06-D7FD-F4E9-078C-6353EB4C3D57}"/>
                </a:ext>
              </a:extLst>
            </p:cNvPr>
            <p:cNvSpPr txBox="1"/>
            <p:nvPr/>
          </p:nvSpPr>
          <p:spPr>
            <a:xfrm>
              <a:off x="5991139" y="1588914"/>
              <a:ext cx="2534025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0" i="0" dirty="0">
                  <a:solidFill>
                    <a:srgbClr val="333333"/>
                  </a:solidFill>
                  <a:effectLst/>
                  <a:latin typeface="Helvetica Neue"/>
                </a:rPr>
                <a:t>Deep Fake</a:t>
              </a:r>
            </a:p>
            <a:p>
              <a:pPr marL="0" indent="0" algn="ctr">
                <a:buNone/>
              </a:pPr>
              <a:r>
                <a:rPr lang="de-AT" sz="2800" dirty="0">
                  <a:latin typeface="Bahnschrift SemiBold SemiConden" panose="020B0502040204020203" pitchFamily="34" charset="0"/>
                </a:rPr>
                <a:t> </a:t>
              </a:r>
            </a:p>
          </p:txBody>
        </p:sp>
        <p:sp>
          <p:nvSpPr>
            <p:cNvPr id="4" name="Rahmen 26">
              <a:extLst>
                <a:ext uri="{FF2B5EF4-FFF2-40B4-BE49-F238E27FC236}">
                  <a16:creationId xmlns:a16="http://schemas.microsoft.com/office/drawing/2014/main" id="{40A31FB5-D5B4-6ED9-3C6F-5695E5D54C34}"/>
                </a:ext>
              </a:extLst>
            </p:cNvPr>
            <p:cNvSpPr/>
            <p:nvPr/>
          </p:nvSpPr>
          <p:spPr>
            <a:xfrm>
              <a:off x="5807527" y="1463221"/>
              <a:ext cx="2874655" cy="800219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>
                <a:solidFill>
                  <a:schemeClr val="tx1"/>
                </a:solidFill>
                <a:latin typeface="Bahnschrift SemiBold SemiConden" panose="020B0502040204020203" pitchFamily="34" charset="0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F7D20FF-B780-E89B-4B9F-45BDD454C192}"/>
              </a:ext>
            </a:extLst>
          </p:cNvPr>
          <p:cNvGrpSpPr/>
          <p:nvPr/>
        </p:nvGrpSpPr>
        <p:grpSpPr>
          <a:xfrm>
            <a:off x="797005" y="4189578"/>
            <a:ext cx="2662218" cy="1079800"/>
            <a:chOff x="5807527" y="1463221"/>
            <a:chExt cx="2874655" cy="1079800"/>
          </a:xfrm>
        </p:grpSpPr>
        <p:sp>
          <p:nvSpPr>
            <p:cNvPr id="16" name="Textfeld 8">
              <a:extLst>
                <a:ext uri="{FF2B5EF4-FFF2-40B4-BE49-F238E27FC236}">
                  <a16:creationId xmlns:a16="http://schemas.microsoft.com/office/drawing/2014/main" id="{9AAC7F76-624C-4B87-80BC-F5D706D8C8A0}"/>
                </a:ext>
              </a:extLst>
            </p:cNvPr>
            <p:cNvSpPr txBox="1"/>
            <p:nvPr/>
          </p:nvSpPr>
          <p:spPr>
            <a:xfrm>
              <a:off x="5991139" y="1588914"/>
              <a:ext cx="2534025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0" i="0" dirty="0">
                  <a:solidFill>
                    <a:srgbClr val="333333"/>
                  </a:solidFill>
                  <a:effectLst/>
                  <a:latin typeface="Helvetica Neue"/>
                </a:rPr>
                <a:t>Chat Bots</a:t>
              </a:r>
            </a:p>
            <a:p>
              <a:pPr marL="0" indent="0" algn="ctr">
                <a:buNone/>
              </a:pPr>
              <a:r>
                <a:rPr lang="de-AT" sz="2800" dirty="0">
                  <a:latin typeface="Bahnschrift SemiBold SemiConden" panose="020B0502040204020203" pitchFamily="34" charset="0"/>
                </a:rPr>
                <a:t> </a:t>
              </a:r>
            </a:p>
          </p:txBody>
        </p:sp>
        <p:sp>
          <p:nvSpPr>
            <p:cNvPr id="17" name="Rahmen 26">
              <a:extLst>
                <a:ext uri="{FF2B5EF4-FFF2-40B4-BE49-F238E27FC236}">
                  <a16:creationId xmlns:a16="http://schemas.microsoft.com/office/drawing/2014/main" id="{56DD3065-E58C-FB81-42E9-665D36BCB4BA}"/>
                </a:ext>
              </a:extLst>
            </p:cNvPr>
            <p:cNvSpPr/>
            <p:nvPr/>
          </p:nvSpPr>
          <p:spPr>
            <a:xfrm>
              <a:off x="5807527" y="1463221"/>
              <a:ext cx="2874655" cy="800219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>
                <a:solidFill>
                  <a:schemeClr val="tx1"/>
                </a:solidFill>
                <a:latin typeface="Bahnschrift SemiBold SemiConden" panose="020B0502040204020203" pitchFamily="34" charset="0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57C27C3-3EA3-DD23-CC99-83A4EEB51EB1}"/>
              </a:ext>
            </a:extLst>
          </p:cNvPr>
          <p:cNvGrpSpPr/>
          <p:nvPr/>
        </p:nvGrpSpPr>
        <p:grpSpPr>
          <a:xfrm>
            <a:off x="6796347" y="3492136"/>
            <a:ext cx="3086562" cy="1079800"/>
            <a:chOff x="5807527" y="1463221"/>
            <a:chExt cx="2874655" cy="1079800"/>
          </a:xfrm>
        </p:grpSpPr>
        <p:sp>
          <p:nvSpPr>
            <p:cNvPr id="20" name="Textfeld 8">
              <a:extLst>
                <a:ext uri="{FF2B5EF4-FFF2-40B4-BE49-F238E27FC236}">
                  <a16:creationId xmlns:a16="http://schemas.microsoft.com/office/drawing/2014/main" id="{7F094208-5FB1-1EB7-C34F-FB646088C97A}"/>
                </a:ext>
              </a:extLst>
            </p:cNvPr>
            <p:cNvSpPr txBox="1"/>
            <p:nvPr/>
          </p:nvSpPr>
          <p:spPr>
            <a:xfrm>
              <a:off x="5991139" y="1588914"/>
              <a:ext cx="2534025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0" i="0" dirty="0">
                  <a:solidFill>
                    <a:srgbClr val="333333"/>
                  </a:solidFill>
                  <a:effectLst/>
                  <a:latin typeface="Helvetica Neue"/>
                </a:rPr>
                <a:t>Transparency</a:t>
              </a:r>
            </a:p>
            <a:p>
              <a:pPr marL="0" indent="0" algn="ctr">
                <a:buNone/>
              </a:pPr>
              <a:r>
                <a:rPr lang="de-AT" sz="2800" dirty="0">
                  <a:latin typeface="Bahnschrift SemiBold SemiConden" panose="020B0502040204020203" pitchFamily="34" charset="0"/>
                </a:rPr>
                <a:t> </a:t>
              </a:r>
            </a:p>
          </p:txBody>
        </p:sp>
        <p:sp>
          <p:nvSpPr>
            <p:cNvPr id="21" name="Rahmen 26">
              <a:extLst>
                <a:ext uri="{FF2B5EF4-FFF2-40B4-BE49-F238E27FC236}">
                  <a16:creationId xmlns:a16="http://schemas.microsoft.com/office/drawing/2014/main" id="{C3439609-AA2B-61EE-F5E6-1ACFC648B8E2}"/>
                </a:ext>
              </a:extLst>
            </p:cNvPr>
            <p:cNvSpPr/>
            <p:nvPr/>
          </p:nvSpPr>
          <p:spPr>
            <a:xfrm>
              <a:off x="5807527" y="1463221"/>
              <a:ext cx="2874655" cy="800219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>
                <a:solidFill>
                  <a:schemeClr val="tx1"/>
                </a:solidFill>
                <a:latin typeface="Bahnschrift SemiBold SemiConden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23523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1CC33CDF-D139-45C5-D132-79FFE725CCEE}"/>
              </a:ext>
            </a:extLst>
          </p:cNvPr>
          <p:cNvGrpSpPr/>
          <p:nvPr/>
        </p:nvGrpSpPr>
        <p:grpSpPr>
          <a:xfrm>
            <a:off x="1662646" y="5734931"/>
            <a:ext cx="1784263" cy="2514933"/>
            <a:chOff x="1615669" y="2774452"/>
            <a:chExt cx="1784263" cy="2514933"/>
          </a:xfrm>
        </p:grpSpPr>
        <p:sp>
          <p:nvSpPr>
            <p:cNvPr id="12" name="Rechteck: gefaltete Ecke 17">
              <a:extLst>
                <a:ext uri="{FF2B5EF4-FFF2-40B4-BE49-F238E27FC236}">
                  <a16:creationId xmlns:a16="http://schemas.microsoft.com/office/drawing/2014/main" id="{BBABFA57-205F-7206-7E7B-EC9032CA162E}"/>
                </a:ext>
              </a:extLst>
            </p:cNvPr>
            <p:cNvSpPr/>
            <p:nvPr/>
          </p:nvSpPr>
          <p:spPr>
            <a:xfrm>
              <a:off x="1619484" y="2774452"/>
              <a:ext cx="1780448" cy="2514933"/>
            </a:xfrm>
            <a:prstGeom prst="foldedCorne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b="1" dirty="0">
                  <a:solidFill>
                    <a:srgbClr val="FFFF00"/>
                  </a:solidFill>
                </a:rPr>
                <a:t>Minimal</a:t>
              </a:r>
            </a:p>
            <a:p>
              <a:pPr algn="ctr"/>
              <a:r>
                <a:rPr lang="en-US" dirty="0"/>
                <a:t>Risk</a:t>
              </a:r>
              <a:endParaRPr lang="de-AT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B490FE0-D725-F8C0-E0E6-E3B2C03D8133}"/>
                </a:ext>
              </a:extLst>
            </p:cNvPr>
            <p:cNvSpPr/>
            <p:nvPr/>
          </p:nvSpPr>
          <p:spPr>
            <a:xfrm>
              <a:off x="1615669" y="4788617"/>
              <a:ext cx="596026" cy="50076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800" b="1" dirty="0"/>
                <a:t>1</a:t>
              </a:r>
              <a:endParaRPr lang="de-AT" sz="2800" b="1" dirty="0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D86F97C1-F8E8-7032-D128-12BA8CE93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057" y="287783"/>
            <a:ext cx="3577702" cy="135543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8F6AA528-7A26-F11E-4B29-F05582D6E550}"/>
              </a:ext>
            </a:extLst>
          </p:cNvPr>
          <p:cNvSpPr txBox="1"/>
          <p:nvPr/>
        </p:nvSpPr>
        <p:spPr>
          <a:xfrm>
            <a:off x="51504" y="6588376"/>
            <a:ext cx="1055593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1" i="0" dirty="0">
                <a:solidFill>
                  <a:schemeClr val="bg1"/>
                </a:solidFill>
                <a:effectLst/>
                <a:latin typeface="-apple-system"/>
              </a:rPr>
              <a:t>Quelle: GPAI – Global Partnership on Artificial Intelligence: </a:t>
            </a:r>
            <a:r>
              <a:rPr lang="en-US" sz="900" dirty="0">
                <a:solidFill>
                  <a:schemeClr val="bg1"/>
                </a:solidFill>
                <a:latin typeface="-apple-system"/>
              </a:rPr>
              <a:t>https://www.gpai.ai</a:t>
            </a:r>
            <a:endParaRPr lang="en-US" sz="900" b="0" i="0" dirty="0">
              <a:solidFill>
                <a:schemeClr val="bg1"/>
              </a:solidFill>
              <a:effectLst/>
              <a:latin typeface="-apple-system"/>
            </a:endParaRPr>
          </a:p>
        </p:txBody>
      </p:sp>
      <p:sp>
        <p:nvSpPr>
          <p:cNvPr id="26" name="Textfeld 28">
            <a:extLst>
              <a:ext uri="{FF2B5EF4-FFF2-40B4-BE49-F238E27FC236}">
                <a16:creationId xmlns:a16="http://schemas.microsoft.com/office/drawing/2014/main" id="{89D9312F-A7DC-91BE-0B50-A8D7BA87DA86}"/>
              </a:ext>
            </a:extLst>
          </p:cNvPr>
          <p:cNvSpPr txBox="1"/>
          <p:nvPr/>
        </p:nvSpPr>
        <p:spPr>
          <a:xfrm>
            <a:off x="255181" y="108639"/>
            <a:ext cx="11699578" cy="8002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endParaRPr lang="de-AT" sz="1800" b="1" dirty="0"/>
          </a:p>
          <a:p>
            <a:r>
              <a:rPr lang="de-AT" sz="2800" b="1" dirty="0"/>
              <a:t>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216C22B-09E4-2A8F-8C06-492495576838}"/>
              </a:ext>
            </a:extLst>
          </p:cNvPr>
          <p:cNvGrpSpPr/>
          <p:nvPr/>
        </p:nvGrpSpPr>
        <p:grpSpPr>
          <a:xfrm>
            <a:off x="3989144" y="5734932"/>
            <a:ext cx="1787262" cy="2516277"/>
            <a:chOff x="3989144" y="2774453"/>
            <a:chExt cx="1787262" cy="2516277"/>
          </a:xfrm>
        </p:grpSpPr>
        <p:sp>
          <p:nvSpPr>
            <p:cNvPr id="27" name="Rechteck: gefaltete Ecke 17">
              <a:extLst>
                <a:ext uri="{FF2B5EF4-FFF2-40B4-BE49-F238E27FC236}">
                  <a16:creationId xmlns:a16="http://schemas.microsoft.com/office/drawing/2014/main" id="{9FF21C25-3588-6E57-3471-62FB3A96F07C}"/>
                </a:ext>
              </a:extLst>
            </p:cNvPr>
            <p:cNvSpPr/>
            <p:nvPr/>
          </p:nvSpPr>
          <p:spPr>
            <a:xfrm>
              <a:off x="3995958" y="2774453"/>
              <a:ext cx="1780448" cy="2514933"/>
            </a:xfrm>
            <a:prstGeom prst="foldedCorne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b="1" dirty="0">
                  <a:solidFill>
                    <a:srgbClr val="FFFF00"/>
                  </a:solidFill>
                </a:rPr>
                <a:t>Limited</a:t>
              </a:r>
            </a:p>
            <a:p>
              <a:pPr algn="ctr"/>
              <a:r>
                <a:rPr lang="en-US" dirty="0"/>
                <a:t>Risk</a:t>
              </a:r>
              <a:endParaRPr lang="de-AT" dirty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D5C17A08-9827-4AF7-A6A1-83DCD468B03A}"/>
                </a:ext>
              </a:extLst>
            </p:cNvPr>
            <p:cNvSpPr/>
            <p:nvPr/>
          </p:nvSpPr>
          <p:spPr>
            <a:xfrm>
              <a:off x="3989144" y="4789962"/>
              <a:ext cx="596026" cy="50076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800" b="1" dirty="0"/>
                <a:t>2</a:t>
              </a:r>
              <a:endParaRPr lang="de-AT" sz="2800" b="1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002F4247-C09D-64B9-9E47-24040938BF90}"/>
              </a:ext>
            </a:extLst>
          </p:cNvPr>
          <p:cNvGrpSpPr/>
          <p:nvPr/>
        </p:nvGrpSpPr>
        <p:grpSpPr>
          <a:xfrm>
            <a:off x="8748906" y="5734931"/>
            <a:ext cx="1780448" cy="2514933"/>
            <a:chOff x="8748906" y="2774452"/>
            <a:chExt cx="1780448" cy="2514933"/>
          </a:xfrm>
        </p:grpSpPr>
        <p:sp>
          <p:nvSpPr>
            <p:cNvPr id="33" name="Rechteck: gefaltete Ecke 17">
              <a:extLst>
                <a:ext uri="{FF2B5EF4-FFF2-40B4-BE49-F238E27FC236}">
                  <a16:creationId xmlns:a16="http://schemas.microsoft.com/office/drawing/2014/main" id="{ED2A1883-32C9-53C8-E8D4-F1CEEEDE94C1}"/>
                </a:ext>
              </a:extLst>
            </p:cNvPr>
            <p:cNvSpPr/>
            <p:nvPr/>
          </p:nvSpPr>
          <p:spPr>
            <a:xfrm>
              <a:off x="8748906" y="2774452"/>
              <a:ext cx="1780448" cy="2514933"/>
            </a:xfrm>
            <a:prstGeom prst="foldedCorne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b="1" dirty="0">
                  <a:solidFill>
                    <a:srgbClr val="FFFF00"/>
                  </a:solidFill>
                </a:rPr>
                <a:t>Unacceptable</a:t>
              </a:r>
            </a:p>
            <a:p>
              <a:pPr algn="ctr"/>
              <a:r>
                <a:rPr lang="en-US" dirty="0"/>
                <a:t>Risk</a:t>
              </a:r>
              <a:endParaRPr lang="de-AT" dirty="0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E2EA6F8-6078-0AF0-A357-1CFBA81E8746}"/>
                </a:ext>
              </a:extLst>
            </p:cNvPr>
            <p:cNvSpPr/>
            <p:nvPr/>
          </p:nvSpPr>
          <p:spPr>
            <a:xfrm>
              <a:off x="8748906" y="4788617"/>
              <a:ext cx="596026" cy="50076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800" b="1" dirty="0"/>
                <a:t>4</a:t>
              </a:r>
              <a:endParaRPr lang="de-AT" sz="2800" b="1" dirty="0"/>
            </a:p>
          </p:txBody>
        </p:sp>
      </p:grpSp>
      <p:pic>
        <p:nvPicPr>
          <p:cNvPr id="54" name="Picture 53">
            <a:extLst>
              <a:ext uri="{FF2B5EF4-FFF2-40B4-BE49-F238E27FC236}">
                <a16:creationId xmlns:a16="http://schemas.microsoft.com/office/drawing/2014/main" id="{AF4C2B08-B7AB-44B0-601E-E035E35B7FE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896" b="9868"/>
          <a:stretch/>
        </p:blipFill>
        <p:spPr>
          <a:xfrm>
            <a:off x="-57705" y="6401164"/>
            <a:ext cx="12325350" cy="440961"/>
          </a:xfrm>
          <a:prstGeom prst="rect">
            <a:avLst/>
          </a:prstGeom>
        </p:spPr>
      </p:pic>
      <p:pic>
        <p:nvPicPr>
          <p:cNvPr id="55" name="Picture 54" descr="A white paper with black text">
            <a:extLst>
              <a:ext uri="{FF2B5EF4-FFF2-40B4-BE49-F238E27FC236}">
                <a16:creationId xmlns:a16="http://schemas.microsoft.com/office/drawing/2014/main" id="{72D5D3D2-7A11-98D0-53F1-B6C76C5D20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370" y="249428"/>
            <a:ext cx="1428312" cy="142831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8" name="Rechteck 5">
            <a:extLst>
              <a:ext uri="{FF2B5EF4-FFF2-40B4-BE49-F238E27FC236}">
                <a16:creationId xmlns:a16="http://schemas.microsoft.com/office/drawing/2014/main" id="{4927634E-EFAB-9DB1-75D8-694EC9F70101}"/>
              </a:ext>
            </a:extLst>
          </p:cNvPr>
          <p:cNvSpPr/>
          <p:nvPr/>
        </p:nvSpPr>
        <p:spPr>
          <a:xfrm>
            <a:off x="473338" y="1697948"/>
            <a:ext cx="3691792" cy="6046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3600" dirty="0">
                <a:solidFill>
                  <a:schemeClr val="bg1"/>
                </a:solidFill>
              </a:rPr>
              <a:t>Four Levels of Risk</a:t>
            </a:r>
            <a:endParaRPr lang="de-AT" dirty="0">
              <a:solidFill>
                <a:schemeClr val="bg1"/>
              </a:solidFill>
            </a:endParaRPr>
          </a:p>
        </p:txBody>
      </p:sp>
      <p:sp>
        <p:nvSpPr>
          <p:cNvPr id="7" name="Textfeld 50">
            <a:extLst>
              <a:ext uri="{FF2B5EF4-FFF2-40B4-BE49-F238E27FC236}">
                <a16:creationId xmlns:a16="http://schemas.microsoft.com/office/drawing/2014/main" id="{9819DEC0-1C42-327F-5AF2-C4FBFDBB8288}"/>
              </a:ext>
            </a:extLst>
          </p:cNvPr>
          <p:cNvSpPr txBox="1"/>
          <p:nvPr/>
        </p:nvSpPr>
        <p:spPr>
          <a:xfrm>
            <a:off x="208706" y="6507336"/>
            <a:ext cx="1055593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1" i="0" dirty="0">
                <a:solidFill>
                  <a:schemeClr val="bg1"/>
                </a:solidFill>
                <a:effectLst/>
                <a:latin typeface="-apple-system"/>
              </a:rPr>
              <a:t>Quelle: GPAI – Global Partnership on Artificial Intelligence: </a:t>
            </a:r>
            <a:r>
              <a:rPr lang="en-US" sz="900" dirty="0">
                <a:solidFill>
                  <a:schemeClr val="bg1"/>
                </a:solidFill>
                <a:latin typeface="-apple-system"/>
              </a:rPr>
              <a:t>https://www.gpai.ai</a:t>
            </a:r>
            <a:endParaRPr lang="en-US" sz="900" b="0" i="0" dirty="0">
              <a:solidFill>
                <a:schemeClr val="bg1"/>
              </a:solidFill>
              <a:effectLst/>
              <a:latin typeface="-apple-system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6F37E0D-37E6-54C7-3974-DAA5E2A4B1CA}"/>
              </a:ext>
            </a:extLst>
          </p:cNvPr>
          <p:cNvGrpSpPr/>
          <p:nvPr/>
        </p:nvGrpSpPr>
        <p:grpSpPr>
          <a:xfrm>
            <a:off x="6369025" y="2774452"/>
            <a:ext cx="1780448" cy="2514933"/>
            <a:chOff x="6369025" y="2774452"/>
            <a:chExt cx="1780448" cy="2514933"/>
          </a:xfrm>
        </p:grpSpPr>
        <p:sp>
          <p:nvSpPr>
            <p:cNvPr id="9" name="Rechteck: gefaltete Ecke 17">
              <a:extLst>
                <a:ext uri="{FF2B5EF4-FFF2-40B4-BE49-F238E27FC236}">
                  <a16:creationId xmlns:a16="http://schemas.microsoft.com/office/drawing/2014/main" id="{58F4C738-0337-B5AA-E1A4-C68DFD153082}"/>
                </a:ext>
              </a:extLst>
            </p:cNvPr>
            <p:cNvSpPr/>
            <p:nvPr/>
          </p:nvSpPr>
          <p:spPr>
            <a:xfrm>
              <a:off x="6369025" y="2774452"/>
              <a:ext cx="1780448" cy="2514933"/>
            </a:xfrm>
            <a:prstGeom prst="foldedCorne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FFFF00"/>
                  </a:solidFill>
                </a:rPr>
                <a:t>High</a:t>
              </a:r>
            </a:p>
            <a:p>
              <a:pPr algn="ctr"/>
              <a:r>
                <a:rPr lang="en-US" dirty="0"/>
                <a:t>Risk</a:t>
              </a:r>
              <a:endParaRPr lang="de-AT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6772409-CFE9-430C-1805-AEF26C125F11}"/>
                </a:ext>
              </a:extLst>
            </p:cNvPr>
            <p:cNvSpPr/>
            <p:nvPr/>
          </p:nvSpPr>
          <p:spPr>
            <a:xfrm>
              <a:off x="6369025" y="4788617"/>
              <a:ext cx="596026" cy="50076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800" b="1" dirty="0"/>
                <a:t>3</a:t>
              </a:r>
              <a:endParaRPr lang="de-AT" sz="2800" b="1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C764277D-0C0A-CCF9-B563-8CC3A4F18628}"/>
              </a:ext>
            </a:extLst>
          </p:cNvPr>
          <p:cNvGrpSpPr/>
          <p:nvPr/>
        </p:nvGrpSpPr>
        <p:grpSpPr>
          <a:xfrm>
            <a:off x="920683" y="4587000"/>
            <a:ext cx="1676099" cy="800219"/>
            <a:chOff x="5807527" y="1463221"/>
            <a:chExt cx="2874655" cy="800219"/>
          </a:xfrm>
        </p:grpSpPr>
        <p:sp>
          <p:nvSpPr>
            <p:cNvPr id="5" name="Textfeld 8">
              <a:extLst>
                <a:ext uri="{FF2B5EF4-FFF2-40B4-BE49-F238E27FC236}">
                  <a16:creationId xmlns:a16="http://schemas.microsoft.com/office/drawing/2014/main" id="{C09E0968-8EA9-D9B8-6F28-697C691532E7}"/>
                </a:ext>
              </a:extLst>
            </p:cNvPr>
            <p:cNvSpPr txBox="1"/>
            <p:nvPr/>
          </p:nvSpPr>
          <p:spPr>
            <a:xfrm>
              <a:off x="5991139" y="1588914"/>
              <a:ext cx="253402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0" i="0" dirty="0">
                  <a:solidFill>
                    <a:srgbClr val="333333"/>
                  </a:solidFill>
                  <a:effectLst/>
                  <a:latin typeface="Helvetica Neue"/>
                </a:rPr>
                <a:t>Health</a:t>
              </a:r>
              <a:endParaRPr lang="de-AT" sz="2800" dirty="0">
                <a:latin typeface="Bahnschrift SemiBold SemiConden" panose="020B0502040204020203" pitchFamily="34" charset="0"/>
              </a:endParaRPr>
            </a:p>
          </p:txBody>
        </p:sp>
        <p:sp>
          <p:nvSpPr>
            <p:cNvPr id="14" name="Rahmen 26">
              <a:extLst>
                <a:ext uri="{FF2B5EF4-FFF2-40B4-BE49-F238E27FC236}">
                  <a16:creationId xmlns:a16="http://schemas.microsoft.com/office/drawing/2014/main" id="{9E57C4C7-B71F-75EE-5F8D-3D6F7F27081D}"/>
                </a:ext>
              </a:extLst>
            </p:cNvPr>
            <p:cNvSpPr/>
            <p:nvPr/>
          </p:nvSpPr>
          <p:spPr>
            <a:xfrm>
              <a:off x="5807527" y="1463221"/>
              <a:ext cx="2874655" cy="800219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>
                <a:solidFill>
                  <a:schemeClr val="tx1"/>
                </a:solidFill>
                <a:latin typeface="Bahnschrift SemiBold SemiConden" panose="020B0502040204020203" pitchFamily="34" charset="0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5532395-7ABF-8A27-D209-201C95D0252C}"/>
              </a:ext>
            </a:extLst>
          </p:cNvPr>
          <p:cNvGrpSpPr/>
          <p:nvPr/>
        </p:nvGrpSpPr>
        <p:grpSpPr>
          <a:xfrm>
            <a:off x="693661" y="3527535"/>
            <a:ext cx="1780448" cy="800219"/>
            <a:chOff x="5807527" y="1463221"/>
            <a:chExt cx="2874655" cy="800219"/>
          </a:xfrm>
        </p:grpSpPr>
        <p:sp>
          <p:nvSpPr>
            <p:cNvPr id="16" name="Textfeld 8">
              <a:extLst>
                <a:ext uri="{FF2B5EF4-FFF2-40B4-BE49-F238E27FC236}">
                  <a16:creationId xmlns:a16="http://schemas.microsoft.com/office/drawing/2014/main" id="{1FC73D5C-956E-9049-966F-862D45A8AF40}"/>
                </a:ext>
              </a:extLst>
            </p:cNvPr>
            <p:cNvSpPr txBox="1"/>
            <p:nvPr/>
          </p:nvSpPr>
          <p:spPr>
            <a:xfrm>
              <a:off x="5991139" y="1588914"/>
              <a:ext cx="253402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0" i="0" dirty="0">
                  <a:solidFill>
                    <a:srgbClr val="333333"/>
                  </a:solidFill>
                  <a:effectLst/>
                  <a:latin typeface="Helvetica Neue"/>
                </a:rPr>
                <a:t>Safety</a:t>
              </a:r>
              <a:endParaRPr lang="de-AT" sz="2800" dirty="0">
                <a:latin typeface="Bahnschrift SemiBold SemiConden" panose="020B0502040204020203" pitchFamily="34" charset="0"/>
              </a:endParaRPr>
            </a:p>
          </p:txBody>
        </p:sp>
        <p:sp>
          <p:nvSpPr>
            <p:cNvPr id="17" name="Rahmen 26">
              <a:extLst>
                <a:ext uri="{FF2B5EF4-FFF2-40B4-BE49-F238E27FC236}">
                  <a16:creationId xmlns:a16="http://schemas.microsoft.com/office/drawing/2014/main" id="{CF2C9E66-55BE-81FC-F5FA-01DED30089D8}"/>
                </a:ext>
              </a:extLst>
            </p:cNvPr>
            <p:cNvSpPr/>
            <p:nvPr/>
          </p:nvSpPr>
          <p:spPr>
            <a:xfrm>
              <a:off x="5807527" y="1463221"/>
              <a:ext cx="2874655" cy="800219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>
                <a:solidFill>
                  <a:schemeClr val="tx1"/>
                </a:solidFill>
                <a:latin typeface="Bahnschrift SemiBold SemiConden" panose="020B0502040204020203" pitchFamily="34" charset="0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14A5989-4A7F-9B66-B3FE-D655856B1039}"/>
              </a:ext>
            </a:extLst>
          </p:cNvPr>
          <p:cNvGrpSpPr/>
          <p:nvPr/>
        </p:nvGrpSpPr>
        <p:grpSpPr>
          <a:xfrm>
            <a:off x="3566477" y="3014742"/>
            <a:ext cx="2095972" cy="800219"/>
            <a:chOff x="5807527" y="1463221"/>
            <a:chExt cx="2874655" cy="800219"/>
          </a:xfrm>
        </p:grpSpPr>
        <p:sp>
          <p:nvSpPr>
            <p:cNvPr id="20" name="Textfeld 8">
              <a:extLst>
                <a:ext uri="{FF2B5EF4-FFF2-40B4-BE49-F238E27FC236}">
                  <a16:creationId xmlns:a16="http://schemas.microsoft.com/office/drawing/2014/main" id="{3AF4DEBD-31CE-1C55-408B-C53493435948}"/>
                </a:ext>
              </a:extLst>
            </p:cNvPr>
            <p:cNvSpPr txBox="1"/>
            <p:nvPr/>
          </p:nvSpPr>
          <p:spPr>
            <a:xfrm>
              <a:off x="5991138" y="1588914"/>
              <a:ext cx="25340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0" i="0" dirty="0">
                  <a:solidFill>
                    <a:srgbClr val="333333"/>
                  </a:solidFill>
                  <a:effectLst/>
                  <a:latin typeface="Helvetica Neue"/>
                </a:rPr>
                <a:t>Transport</a:t>
              </a:r>
              <a:endParaRPr lang="de-AT" sz="2800" dirty="0">
                <a:latin typeface="Bahnschrift SemiBold SemiConden" panose="020B0502040204020203" pitchFamily="34" charset="0"/>
              </a:endParaRPr>
            </a:p>
          </p:txBody>
        </p:sp>
        <p:sp>
          <p:nvSpPr>
            <p:cNvPr id="21" name="Rahmen 26">
              <a:extLst>
                <a:ext uri="{FF2B5EF4-FFF2-40B4-BE49-F238E27FC236}">
                  <a16:creationId xmlns:a16="http://schemas.microsoft.com/office/drawing/2014/main" id="{AB0075E3-FE21-CDFE-5F54-CE345CDBFBAF}"/>
                </a:ext>
              </a:extLst>
            </p:cNvPr>
            <p:cNvSpPr/>
            <p:nvPr/>
          </p:nvSpPr>
          <p:spPr>
            <a:xfrm>
              <a:off x="5807527" y="1463221"/>
              <a:ext cx="2874655" cy="800219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>
                <a:solidFill>
                  <a:schemeClr val="tx1"/>
                </a:solidFill>
                <a:latin typeface="Bahnschrift SemiBold SemiConden" panose="020B0502040204020203" pitchFamily="34" charset="0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A29DE5F-4995-D2E1-A00D-C9DC7543B032}"/>
              </a:ext>
            </a:extLst>
          </p:cNvPr>
          <p:cNvGrpSpPr/>
          <p:nvPr/>
        </p:nvGrpSpPr>
        <p:grpSpPr>
          <a:xfrm>
            <a:off x="1266362" y="2553585"/>
            <a:ext cx="2095972" cy="800219"/>
            <a:chOff x="5807527" y="1463221"/>
            <a:chExt cx="2874655" cy="800219"/>
          </a:xfrm>
        </p:grpSpPr>
        <p:sp>
          <p:nvSpPr>
            <p:cNvPr id="23" name="Textfeld 8">
              <a:extLst>
                <a:ext uri="{FF2B5EF4-FFF2-40B4-BE49-F238E27FC236}">
                  <a16:creationId xmlns:a16="http://schemas.microsoft.com/office/drawing/2014/main" id="{0D4F0253-42F6-FA40-A375-0825606086DA}"/>
                </a:ext>
              </a:extLst>
            </p:cNvPr>
            <p:cNvSpPr txBox="1"/>
            <p:nvPr/>
          </p:nvSpPr>
          <p:spPr>
            <a:xfrm>
              <a:off x="5991138" y="1588914"/>
              <a:ext cx="25340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0" i="0" dirty="0">
                  <a:solidFill>
                    <a:srgbClr val="333333"/>
                  </a:solidFill>
                  <a:effectLst/>
                  <a:latin typeface="Helvetica Neue"/>
                </a:rPr>
                <a:t>Education</a:t>
              </a:r>
              <a:endParaRPr lang="de-AT" sz="2800" dirty="0">
                <a:latin typeface="Bahnschrift SemiBold SemiConden" panose="020B0502040204020203" pitchFamily="34" charset="0"/>
              </a:endParaRPr>
            </a:p>
          </p:txBody>
        </p:sp>
        <p:sp>
          <p:nvSpPr>
            <p:cNvPr id="24" name="Rahmen 26">
              <a:extLst>
                <a:ext uri="{FF2B5EF4-FFF2-40B4-BE49-F238E27FC236}">
                  <a16:creationId xmlns:a16="http://schemas.microsoft.com/office/drawing/2014/main" id="{FE28A0AF-4C69-1C8C-6928-6B33BEF60308}"/>
                </a:ext>
              </a:extLst>
            </p:cNvPr>
            <p:cNvSpPr/>
            <p:nvPr/>
          </p:nvSpPr>
          <p:spPr>
            <a:xfrm>
              <a:off x="5807527" y="1463221"/>
              <a:ext cx="2874655" cy="800219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>
                <a:solidFill>
                  <a:schemeClr val="tx1"/>
                </a:solidFill>
                <a:latin typeface="Bahnschrift SemiBold SemiConden" panose="020B0502040204020203" pitchFamily="34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CBEB91F-A734-4AEE-5B61-2BDBB6FED412}"/>
              </a:ext>
            </a:extLst>
          </p:cNvPr>
          <p:cNvGrpSpPr/>
          <p:nvPr/>
        </p:nvGrpSpPr>
        <p:grpSpPr>
          <a:xfrm>
            <a:off x="2722457" y="4131553"/>
            <a:ext cx="3464709" cy="771201"/>
            <a:chOff x="5807527" y="1463221"/>
            <a:chExt cx="2874655" cy="771201"/>
          </a:xfrm>
        </p:grpSpPr>
        <p:sp>
          <p:nvSpPr>
            <p:cNvPr id="28" name="Textfeld 8">
              <a:extLst>
                <a:ext uri="{FF2B5EF4-FFF2-40B4-BE49-F238E27FC236}">
                  <a16:creationId xmlns:a16="http://schemas.microsoft.com/office/drawing/2014/main" id="{557A9C74-B0BF-2E75-58FE-0E6653A796C2}"/>
                </a:ext>
              </a:extLst>
            </p:cNvPr>
            <p:cNvSpPr txBox="1"/>
            <p:nvPr/>
          </p:nvSpPr>
          <p:spPr>
            <a:xfrm>
              <a:off x="5991139" y="1588914"/>
              <a:ext cx="253402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0" i="0" dirty="0">
                  <a:solidFill>
                    <a:srgbClr val="333333"/>
                  </a:solidFill>
                  <a:effectLst/>
                  <a:latin typeface="Helvetica Neue"/>
                </a:rPr>
                <a:t>Law Enforcement</a:t>
              </a:r>
              <a:endParaRPr lang="de-AT" sz="2800" dirty="0">
                <a:latin typeface="Bahnschrift SemiBold SemiConden" panose="020B0502040204020203" pitchFamily="34" charset="0"/>
              </a:endParaRPr>
            </a:p>
          </p:txBody>
        </p:sp>
        <p:sp>
          <p:nvSpPr>
            <p:cNvPr id="29" name="Rahmen 26">
              <a:extLst>
                <a:ext uri="{FF2B5EF4-FFF2-40B4-BE49-F238E27FC236}">
                  <a16:creationId xmlns:a16="http://schemas.microsoft.com/office/drawing/2014/main" id="{6DC52E83-3509-356F-50D7-CD4CA0EAC619}"/>
                </a:ext>
              </a:extLst>
            </p:cNvPr>
            <p:cNvSpPr/>
            <p:nvPr/>
          </p:nvSpPr>
          <p:spPr>
            <a:xfrm>
              <a:off x="5807527" y="1463221"/>
              <a:ext cx="2874655" cy="771201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>
                <a:solidFill>
                  <a:schemeClr val="tx1"/>
                </a:solidFill>
                <a:latin typeface="Bahnschrift SemiBold SemiConden" panose="020B0502040204020203" pitchFamily="34" charset="0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9ECA3C7-EEB4-5DB0-F1C1-63ED5D31E1E5}"/>
              </a:ext>
            </a:extLst>
          </p:cNvPr>
          <p:cNvGrpSpPr/>
          <p:nvPr/>
        </p:nvGrpSpPr>
        <p:grpSpPr>
          <a:xfrm>
            <a:off x="8253953" y="2570845"/>
            <a:ext cx="3700806" cy="668753"/>
            <a:chOff x="5807527" y="1463221"/>
            <a:chExt cx="2874655" cy="668753"/>
          </a:xfrm>
        </p:grpSpPr>
        <p:sp>
          <p:nvSpPr>
            <p:cNvPr id="35" name="Textfeld 8">
              <a:extLst>
                <a:ext uri="{FF2B5EF4-FFF2-40B4-BE49-F238E27FC236}">
                  <a16:creationId xmlns:a16="http://schemas.microsoft.com/office/drawing/2014/main" id="{0A66DC5C-3052-C830-5738-F7C30EE37791}"/>
                </a:ext>
              </a:extLst>
            </p:cNvPr>
            <p:cNvSpPr txBox="1"/>
            <p:nvPr/>
          </p:nvSpPr>
          <p:spPr>
            <a:xfrm>
              <a:off x="5991139" y="1588914"/>
              <a:ext cx="253402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0" i="0" dirty="0">
                  <a:solidFill>
                    <a:srgbClr val="333333"/>
                  </a:solidFill>
                  <a:effectLst/>
                  <a:latin typeface="Helvetica Neue"/>
                </a:rPr>
                <a:t>Use High-quality Datasets</a:t>
              </a:r>
              <a:endParaRPr lang="de-AT" sz="2800" dirty="0">
                <a:latin typeface="Bahnschrift SemiBold SemiConden" panose="020B0502040204020203" pitchFamily="34" charset="0"/>
              </a:endParaRPr>
            </a:p>
          </p:txBody>
        </p:sp>
        <p:sp>
          <p:nvSpPr>
            <p:cNvPr id="36" name="Rahmen 26">
              <a:extLst>
                <a:ext uri="{FF2B5EF4-FFF2-40B4-BE49-F238E27FC236}">
                  <a16:creationId xmlns:a16="http://schemas.microsoft.com/office/drawing/2014/main" id="{39DAE67E-6F91-3A33-29F1-16EC5D5F0AD5}"/>
                </a:ext>
              </a:extLst>
            </p:cNvPr>
            <p:cNvSpPr/>
            <p:nvPr/>
          </p:nvSpPr>
          <p:spPr>
            <a:xfrm>
              <a:off x="5807527" y="1463221"/>
              <a:ext cx="2874655" cy="668753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>
                <a:solidFill>
                  <a:schemeClr val="tx1"/>
                </a:solidFill>
                <a:latin typeface="Bahnschrift SemiBold SemiConden" panose="020B0502040204020203" pitchFamily="34" charset="0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AD12BE3-31B1-6934-C36F-C8AB262BC683}"/>
              </a:ext>
            </a:extLst>
          </p:cNvPr>
          <p:cNvGrpSpPr/>
          <p:nvPr/>
        </p:nvGrpSpPr>
        <p:grpSpPr>
          <a:xfrm>
            <a:off x="8249147" y="1785790"/>
            <a:ext cx="3700806" cy="668753"/>
            <a:chOff x="5807527" y="1463221"/>
            <a:chExt cx="2874655" cy="668753"/>
          </a:xfrm>
        </p:grpSpPr>
        <p:sp>
          <p:nvSpPr>
            <p:cNvPr id="31" name="Textfeld 8">
              <a:extLst>
                <a:ext uri="{FF2B5EF4-FFF2-40B4-BE49-F238E27FC236}">
                  <a16:creationId xmlns:a16="http://schemas.microsoft.com/office/drawing/2014/main" id="{BA3D863F-8E3B-814F-5E65-B666E95B5977}"/>
                </a:ext>
              </a:extLst>
            </p:cNvPr>
            <p:cNvSpPr txBox="1"/>
            <p:nvPr/>
          </p:nvSpPr>
          <p:spPr>
            <a:xfrm>
              <a:off x="5991139" y="1588914"/>
              <a:ext cx="253402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0" i="0" dirty="0">
                  <a:solidFill>
                    <a:srgbClr val="333333"/>
                  </a:solidFill>
                  <a:effectLst/>
                  <a:latin typeface="Helvetica Neue"/>
                </a:rPr>
                <a:t>Rigorous Risk Assessment</a:t>
              </a:r>
              <a:endParaRPr lang="de-AT" sz="2800" dirty="0">
                <a:latin typeface="Bahnschrift SemiBold SemiConden" panose="020B0502040204020203" pitchFamily="34" charset="0"/>
              </a:endParaRPr>
            </a:p>
          </p:txBody>
        </p:sp>
        <p:sp>
          <p:nvSpPr>
            <p:cNvPr id="32" name="Rahmen 26">
              <a:extLst>
                <a:ext uri="{FF2B5EF4-FFF2-40B4-BE49-F238E27FC236}">
                  <a16:creationId xmlns:a16="http://schemas.microsoft.com/office/drawing/2014/main" id="{1A73EA02-0A82-1D35-D9B8-289960433B17}"/>
                </a:ext>
              </a:extLst>
            </p:cNvPr>
            <p:cNvSpPr/>
            <p:nvPr/>
          </p:nvSpPr>
          <p:spPr>
            <a:xfrm>
              <a:off x="5807527" y="1463221"/>
              <a:ext cx="2874655" cy="668753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>
                <a:solidFill>
                  <a:schemeClr val="tx1"/>
                </a:solidFill>
                <a:latin typeface="Bahnschrift SemiBold SemiConden" panose="020B0502040204020203" pitchFamily="34" charset="0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E27616B-9DFF-47FA-A117-3BD96CA7DB28}"/>
              </a:ext>
            </a:extLst>
          </p:cNvPr>
          <p:cNvGrpSpPr/>
          <p:nvPr/>
        </p:nvGrpSpPr>
        <p:grpSpPr>
          <a:xfrm>
            <a:off x="8271072" y="3345770"/>
            <a:ext cx="3700806" cy="668753"/>
            <a:chOff x="5807527" y="1463221"/>
            <a:chExt cx="2874655" cy="668753"/>
          </a:xfrm>
        </p:grpSpPr>
        <p:sp>
          <p:nvSpPr>
            <p:cNvPr id="38" name="Textfeld 8">
              <a:extLst>
                <a:ext uri="{FF2B5EF4-FFF2-40B4-BE49-F238E27FC236}">
                  <a16:creationId xmlns:a16="http://schemas.microsoft.com/office/drawing/2014/main" id="{102716E3-6EA4-A029-1B1B-11380A52143D}"/>
                </a:ext>
              </a:extLst>
            </p:cNvPr>
            <p:cNvSpPr txBox="1"/>
            <p:nvPr/>
          </p:nvSpPr>
          <p:spPr>
            <a:xfrm>
              <a:off x="5991139" y="1588914"/>
              <a:ext cx="253402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0" i="0" dirty="0">
                  <a:solidFill>
                    <a:srgbClr val="333333"/>
                  </a:solidFill>
                  <a:effectLst/>
                  <a:latin typeface="Helvetica Neue"/>
                </a:rPr>
                <a:t>Maintain Activity Logs</a:t>
              </a:r>
              <a:endParaRPr lang="de-AT" sz="2800" dirty="0">
                <a:latin typeface="Bahnschrift SemiBold SemiConden" panose="020B0502040204020203" pitchFamily="34" charset="0"/>
              </a:endParaRPr>
            </a:p>
          </p:txBody>
        </p:sp>
        <p:sp>
          <p:nvSpPr>
            <p:cNvPr id="39" name="Rahmen 26">
              <a:extLst>
                <a:ext uri="{FF2B5EF4-FFF2-40B4-BE49-F238E27FC236}">
                  <a16:creationId xmlns:a16="http://schemas.microsoft.com/office/drawing/2014/main" id="{23D671EF-5653-B528-21DF-E9F2173483BA}"/>
                </a:ext>
              </a:extLst>
            </p:cNvPr>
            <p:cNvSpPr/>
            <p:nvPr/>
          </p:nvSpPr>
          <p:spPr>
            <a:xfrm>
              <a:off x="5807527" y="1463221"/>
              <a:ext cx="2874655" cy="668753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>
                <a:solidFill>
                  <a:schemeClr val="tx1"/>
                </a:solidFill>
                <a:latin typeface="Bahnschrift SemiBold SemiConden" panose="020B0502040204020203" pitchFamily="34" charset="0"/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4CC0FDB-6913-4885-5CCB-F8D7CCD217C9}"/>
              </a:ext>
            </a:extLst>
          </p:cNvPr>
          <p:cNvGrpSpPr/>
          <p:nvPr/>
        </p:nvGrpSpPr>
        <p:grpSpPr>
          <a:xfrm>
            <a:off x="8253953" y="4138450"/>
            <a:ext cx="3700806" cy="668753"/>
            <a:chOff x="5807527" y="1463221"/>
            <a:chExt cx="2874655" cy="668753"/>
          </a:xfrm>
        </p:grpSpPr>
        <p:sp>
          <p:nvSpPr>
            <p:cNvPr id="41" name="Textfeld 8">
              <a:extLst>
                <a:ext uri="{FF2B5EF4-FFF2-40B4-BE49-F238E27FC236}">
                  <a16:creationId xmlns:a16="http://schemas.microsoft.com/office/drawing/2014/main" id="{B9E58881-954F-619A-E2C9-0012398FD5B5}"/>
                </a:ext>
              </a:extLst>
            </p:cNvPr>
            <p:cNvSpPr txBox="1"/>
            <p:nvPr/>
          </p:nvSpPr>
          <p:spPr>
            <a:xfrm>
              <a:off x="5859788" y="1588914"/>
              <a:ext cx="279672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0" i="0" dirty="0">
                  <a:solidFill>
                    <a:srgbClr val="333333"/>
                  </a:solidFill>
                  <a:effectLst/>
                  <a:latin typeface="Helvetica Neue"/>
                </a:rPr>
                <a:t>Provide Comprehensive Doc.</a:t>
              </a:r>
              <a:endParaRPr lang="de-AT" sz="2800" dirty="0">
                <a:latin typeface="Bahnschrift SemiBold SemiConden" panose="020B0502040204020203" pitchFamily="34" charset="0"/>
              </a:endParaRPr>
            </a:p>
          </p:txBody>
        </p:sp>
        <p:sp>
          <p:nvSpPr>
            <p:cNvPr id="42" name="Rahmen 26">
              <a:extLst>
                <a:ext uri="{FF2B5EF4-FFF2-40B4-BE49-F238E27FC236}">
                  <a16:creationId xmlns:a16="http://schemas.microsoft.com/office/drawing/2014/main" id="{46A220DE-68B0-1D5E-EFA5-20948F1DB676}"/>
                </a:ext>
              </a:extLst>
            </p:cNvPr>
            <p:cNvSpPr/>
            <p:nvPr/>
          </p:nvSpPr>
          <p:spPr>
            <a:xfrm>
              <a:off x="5807527" y="1463221"/>
              <a:ext cx="2874655" cy="668753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>
                <a:solidFill>
                  <a:schemeClr val="tx1"/>
                </a:solidFill>
                <a:latin typeface="Bahnschrift SemiBold SemiConden" panose="020B0502040204020203" pitchFamily="34" charset="0"/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897891E-91DF-4C14-711B-3CCCC7DB6D4E}"/>
              </a:ext>
            </a:extLst>
          </p:cNvPr>
          <p:cNvGrpSpPr/>
          <p:nvPr/>
        </p:nvGrpSpPr>
        <p:grpSpPr>
          <a:xfrm>
            <a:off x="8249147" y="4908874"/>
            <a:ext cx="3700806" cy="668753"/>
            <a:chOff x="5807527" y="1463221"/>
            <a:chExt cx="2874655" cy="668753"/>
          </a:xfrm>
        </p:grpSpPr>
        <p:sp>
          <p:nvSpPr>
            <p:cNvPr id="45" name="Textfeld 8">
              <a:extLst>
                <a:ext uri="{FF2B5EF4-FFF2-40B4-BE49-F238E27FC236}">
                  <a16:creationId xmlns:a16="http://schemas.microsoft.com/office/drawing/2014/main" id="{FF19DE7B-16EF-AD86-D7B1-506AAA6A4D9F}"/>
                </a:ext>
              </a:extLst>
            </p:cNvPr>
            <p:cNvSpPr txBox="1"/>
            <p:nvPr/>
          </p:nvSpPr>
          <p:spPr>
            <a:xfrm>
              <a:off x="5991139" y="1588914"/>
              <a:ext cx="253402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0" i="0" dirty="0">
                  <a:solidFill>
                    <a:srgbClr val="333333"/>
                  </a:solidFill>
                  <a:effectLst/>
                  <a:latin typeface="Helvetica Neue"/>
                </a:rPr>
                <a:t>Clear User Information</a:t>
              </a:r>
              <a:endParaRPr lang="de-AT" sz="2800" dirty="0">
                <a:latin typeface="Bahnschrift SemiBold SemiConden" panose="020B0502040204020203" pitchFamily="34" charset="0"/>
              </a:endParaRPr>
            </a:p>
          </p:txBody>
        </p:sp>
        <p:sp>
          <p:nvSpPr>
            <p:cNvPr id="46" name="Rahmen 26">
              <a:extLst>
                <a:ext uri="{FF2B5EF4-FFF2-40B4-BE49-F238E27FC236}">
                  <a16:creationId xmlns:a16="http://schemas.microsoft.com/office/drawing/2014/main" id="{888A1785-B160-F762-305A-CBCF7BECBB54}"/>
                </a:ext>
              </a:extLst>
            </p:cNvPr>
            <p:cNvSpPr/>
            <p:nvPr/>
          </p:nvSpPr>
          <p:spPr>
            <a:xfrm>
              <a:off x="5807527" y="1463221"/>
              <a:ext cx="2874655" cy="668753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>
                <a:solidFill>
                  <a:schemeClr val="tx1"/>
                </a:solidFill>
                <a:latin typeface="Bahnschrift SemiBold SemiConden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707951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DF44AD1F-7F26-D506-AA6C-D4CB9AD25627}"/>
              </a:ext>
            </a:extLst>
          </p:cNvPr>
          <p:cNvGrpSpPr/>
          <p:nvPr/>
        </p:nvGrpSpPr>
        <p:grpSpPr>
          <a:xfrm>
            <a:off x="1662646" y="5734931"/>
            <a:ext cx="1784263" cy="2514933"/>
            <a:chOff x="1615669" y="2774452"/>
            <a:chExt cx="1784263" cy="2514933"/>
          </a:xfrm>
        </p:grpSpPr>
        <p:sp>
          <p:nvSpPr>
            <p:cNvPr id="12" name="Rechteck: gefaltete Ecke 17">
              <a:extLst>
                <a:ext uri="{FF2B5EF4-FFF2-40B4-BE49-F238E27FC236}">
                  <a16:creationId xmlns:a16="http://schemas.microsoft.com/office/drawing/2014/main" id="{AAF26945-ED59-A864-66D7-D7E69F2351F4}"/>
                </a:ext>
              </a:extLst>
            </p:cNvPr>
            <p:cNvSpPr/>
            <p:nvPr/>
          </p:nvSpPr>
          <p:spPr>
            <a:xfrm>
              <a:off x="1619484" y="2774452"/>
              <a:ext cx="1780448" cy="2514933"/>
            </a:xfrm>
            <a:prstGeom prst="foldedCorne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b="1" dirty="0">
                  <a:solidFill>
                    <a:srgbClr val="FFFF00"/>
                  </a:solidFill>
                </a:rPr>
                <a:t>Minimal</a:t>
              </a:r>
            </a:p>
            <a:p>
              <a:pPr algn="ctr"/>
              <a:r>
                <a:rPr lang="en-US" dirty="0"/>
                <a:t>Risk</a:t>
              </a:r>
              <a:endParaRPr lang="de-AT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3BD8177-A2C6-E9FE-0A40-604645EF6056}"/>
                </a:ext>
              </a:extLst>
            </p:cNvPr>
            <p:cNvSpPr/>
            <p:nvPr/>
          </p:nvSpPr>
          <p:spPr>
            <a:xfrm>
              <a:off x="1615669" y="4788617"/>
              <a:ext cx="596026" cy="50076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800" b="1" dirty="0"/>
                <a:t>1</a:t>
              </a:r>
              <a:endParaRPr lang="de-AT" sz="2800" b="1" dirty="0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D86F97C1-F8E8-7032-D128-12BA8CE93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057" y="287783"/>
            <a:ext cx="3577702" cy="135543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8F6AA528-7A26-F11E-4B29-F05582D6E550}"/>
              </a:ext>
            </a:extLst>
          </p:cNvPr>
          <p:cNvSpPr txBox="1"/>
          <p:nvPr/>
        </p:nvSpPr>
        <p:spPr>
          <a:xfrm>
            <a:off x="51504" y="6588376"/>
            <a:ext cx="1055593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1" i="0" dirty="0">
                <a:solidFill>
                  <a:schemeClr val="bg1"/>
                </a:solidFill>
                <a:effectLst/>
                <a:latin typeface="-apple-system"/>
              </a:rPr>
              <a:t>Quelle: GPAI – Global Partnership on Artificial Intelligence: </a:t>
            </a:r>
            <a:r>
              <a:rPr lang="en-US" sz="900" dirty="0">
                <a:solidFill>
                  <a:schemeClr val="bg1"/>
                </a:solidFill>
                <a:latin typeface="-apple-system"/>
              </a:rPr>
              <a:t>https://www.gpai.ai</a:t>
            </a:r>
            <a:endParaRPr lang="en-US" sz="900" b="0" i="0" dirty="0">
              <a:solidFill>
                <a:schemeClr val="bg1"/>
              </a:solidFill>
              <a:effectLst/>
              <a:latin typeface="-apple-system"/>
            </a:endParaRPr>
          </a:p>
        </p:txBody>
      </p:sp>
      <p:sp>
        <p:nvSpPr>
          <p:cNvPr id="26" name="Textfeld 28">
            <a:extLst>
              <a:ext uri="{FF2B5EF4-FFF2-40B4-BE49-F238E27FC236}">
                <a16:creationId xmlns:a16="http://schemas.microsoft.com/office/drawing/2014/main" id="{89D9312F-A7DC-91BE-0B50-A8D7BA87DA86}"/>
              </a:ext>
            </a:extLst>
          </p:cNvPr>
          <p:cNvSpPr txBox="1"/>
          <p:nvPr/>
        </p:nvSpPr>
        <p:spPr>
          <a:xfrm>
            <a:off x="255181" y="108639"/>
            <a:ext cx="11699578" cy="8002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endParaRPr lang="de-AT" sz="1800" b="1" dirty="0"/>
          </a:p>
          <a:p>
            <a:r>
              <a:rPr lang="de-AT" sz="2800" b="1" dirty="0"/>
              <a:t>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216C22B-09E4-2A8F-8C06-492495576838}"/>
              </a:ext>
            </a:extLst>
          </p:cNvPr>
          <p:cNvGrpSpPr/>
          <p:nvPr/>
        </p:nvGrpSpPr>
        <p:grpSpPr>
          <a:xfrm>
            <a:off x="3989144" y="5734932"/>
            <a:ext cx="1787262" cy="2516277"/>
            <a:chOff x="3989144" y="2774453"/>
            <a:chExt cx="1787262" cy="2516277"/>
          </a:xfrm>
        </p:grpSpPr>
        <p:sp>
          <p:nvSpPr>
            <p:cNvPr id="27" name="Rechteck: gefaltete Ecke 17">
              <a:extLst>
                <a:ext uri="{FF2B5EF4-FFF2-40B4-BE49-F238E27FC236}">
                  <a16:creationId xmlns:a16="http://schemas.microsoft.com/office/drawing/2014/main" id="{9FF21C25-3588-6E57-3471-62FB3A96F07C}"/>
                </a:ext>
              </a:extLst>
            </p:cNvPr>
            <p:cNvSpPr/>
            <p:nvPr/>
          </p:nvSpPr>
          <p:spPr>
            <a:xfrm>
              <a:off x="3995958" y="2774453"/>
              <a:ext cx="1780448" cy="2514933"/>
            </a:xfrm>
            <a:prstGeom prst="foldedCorne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b="1" dirty="0">
                  <a:solidFill>
                    <a:srgbClr val="FFFF00"/>
                  </a:solidFill>
                </a:rPr>
                <a:t>Limited</a:t>
              </a:r>
            </a:p>
            <a:p>
              <a:pPr algn="ctr"/>
              <a:r>
                <a:rPr lang="en-US" dirty="0"/>
                <a:t>Risk</a:t>
              </a:r>
              <a:endParaRPr lang="de-AT" dirty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D5C17A08-9827-4AF7-A6A1-83DCD468B03A}"/>
                </a:ext>
              </a:extLst>
            </p:cNvPr>
            <p:cNvSpPr/>
            <p:nvPr/>
          </p:nvSpPr>
          <p:spPr>
            <a:xfrm>
              <a:off x="3989144" y="4789962"/>
              <a:ext cx="596026" cy="50076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800" b="1" dirty="0"/>
                <a:t>2</a:t>
              </a:r>
              <a:endParaRPr lang="de-AT" sz="2800" b="1" dirty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BD149EB1-C406-137B-44B2-51BF149C1FFA}"/>
              </a:ext>
            </a:extLst>
          </p:cNvPr>
          <p:cNvGrpSpPr/>
          <p:nvPr/>
        </p:nvGrpSpPr>
        <p:grpSpPr>
          <a:xfrm>
            <a:off x="6369025" y="5734931"/>
            <a:ext cx="1780448" cy="2514933"/>
            <a:chOff x="6369025" y="2774452"/>
            <a:chExt cx="1780448" cy="2514933"/>
          </a:xfrm>
        </p:grpSpPr>
        <p:sp>
          <p:nvSpPr>
            <p:cNvPr id="31" name="Rechteck: gefaltete Ecke 17">
              <a:extLst>
                <a:ext uri="{FF2B5EF4-FFF2-40B4-BE49-F238E27FC236}">
                  <a16:creationId xmlns:a16="http://schemas.microsoft.com/office/drawing/2014/main" id="{4CADB403-3E48-316D-0776-CF4FB46B5EC0}"/>
                </a:ext>
              </a:extLst>
            </p:cNvPr>
            <p:cNvSpPr/>
            <p:nvPr/>
          </p:nvSpPr>
          <p:spPr>
            <a:xfrm>
              <a:off x="6369025" y="2774452"/>
              <a:ext cx="1780448" cy="2514933"/>
            </a:xfrm>
            <a:prstGeom prst="foldedCorne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b="1" dirty="0">
                  <a:solidFill>
                    <a:srgbClr val="FFFF00"/>
                  </a:solidFill>
                </a:rPr>
                <a:t>High</a:t>
              </a:r>
            </a:p>
            <a:p>
              <a:pPr algn="ctr"/>
              <a:r>
                <a:rPr lang="en-US" dirty="0"/>
                <a:t>Risk</a:t>
              </a:r>
              <a:endParaRPr lang="de-AT" dirty="0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632FFFE3-4958-D1FB-9BA1-A7056E475D86}"/>
                </a:ext>
              </a:extLst>
            </p:cNvPr>
            <p:cNvSpPr/>
            <p:nvPr/>
          </p:nvSpPr>
          <p:spPr>
            <a:xfrm>
              <a:off x="6369025" y="4788617"/>
              <a:ext cx="596026" cy="50076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800" b="1" dirty="0"/>
                <a:t>3</a:t>
              </a:r>
              <a:endParaRPr lang="de-AT" sz="2800" b="1" dirty="0"/>
            </a:p>
          </p:txBody>
        </p:sp>
      </p:grpSp>
      <p:pic>
        <p:nvPicPr>
          <p:cNvPr id="54" name="Picture 53">
            <a:extLst>
              <a:ext uri="{FF2B5EF4-FFF2-40B4-BE49-F238E27FC236}">
                <a16:creationId xmlns:a16="http://schemas.microsoft.com/office/drawing/2014/main" id="{AF4C2B08-B7AB-44B0-601E-E035E35B7FE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896" b="9868"/>
          <a:stretch/>
        </p:blipFill>
        <p:spPr>
          <a:xfrm>
            <a:off x="-57705" y="6401164"/>
            <a:ext cx="12325350" cy="440961"/>
          </a:xfrm>
          <a:prstGeom prst="rect">
            <a:avLst/>
          </a:prstGeom>
        </p:spPr>
      </p:pic>
      <p:pic>
        <p:nvPicPr>
          <p:cNvPr id="55" name="Picture 54" descr="A white paper with black text">
            <a:extLst>
              <a:ext uri="{FF2B5EF4-FFF2-40B4-BE49-F238E27FC236}">
                <a16:creationId xmlns:a16="http://schemas.microsoft.com/office/drawing/2014/main" id="{72D5D3D2-7A11-98D0-53F1-B6C76C5D20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370" y="249428"/>
            <a:ext cx="1428312" cy="142831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8" name="Rechteck 5">
            <a:extLst>
              <a:ext uri="{FF2B5EF4-FFF2-40B4-BE49-F238E27FC236}">
                <a16:creationId xmlns:a16="http://schemas.microsoft.com/office/drawing/2014/main" id="{4927634E-EFAB-9DB1-75D8-694EC9F70101}"/>
              </a:ext>
            </a:extLst>
          </p:cNvPr>
          <p:cNvSpPr/>
          <p:nvPr/>
        </p:nvSpPr>
        <p:spPr>
          <a:xfrm>
            <a:off x="473338" y="1697948"/>
            <a:ext cx="3691792" cy="6046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3600" dirty="0">
                <a:solidFill>
                  <a:schemeClr val="bg1"/>
                </a:solidFill>
              </a:rPr>
              <a:t>Four Levels of Risk</a:t>
            </a:r>
            <a:endParaRPr lang="de-AT" dirty="0">
              <a:solidFill>
                <a:schemeClr val="bg1"/>
              </a:solidFill>
            </a:endParaRPr>
          </a:p>
        </p:txBody>
      </p:sp>
      <p:sp>
        <p:nvSpPr>
          <p:cNvPr id="7" name="Textfeld 50">
            <a:extLst>
              <a:ext uri="{FF2B5EF4-FFF2-40B4-BE49-F238E27FC236}">
                <a16:creationId xmlns:a16="http://schemas.microsoft.com/office/drawing/2014/main" id="{9819DEC0-1C42-327F-5AF2-C4FBFDBB8288}"/>
              </a:ext>
            </a:extLst>
          </p:cNvPr>
          <p:cNvSpPr txBox="1"/>
          <p:nvPr/>
        </p:nvSpPr>
        <p:spPr>
          <a:xfrm>
            <a:off x="208706" y="6507336"/>
            <a:ext cx="1055593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1" i="0" dirty="0">
                <a:solidFill>
                  <a:schemeClr val="bg1"/>
                </a:solidFill>
                <a:effectLst/>
                <a:latin typeface="-apple-system"/>
              </a:rPr>
              <a:t>Quelle: GPAI – Global Partnership on Artificial Intelligence: </a:t>
            </a:r>
            <a:r>
              <a:rPr lang="en-US" sz="900" dirty="0">
                <a:solidFill>
                  <a:schemeClr val="bg1"/>
                </a:solidFill>
                <a:latin typeface="-apple-system"/>
              </a:rPr>
              <a:t>https://www.gpai.ai</a:t>
            </a:r>
            <a:endParaRPr lang="en-US" sz="900" b="0" i="0" dirty="0">
              <a:solidFill>
                <a:schemeClr val="bg1"/>
              </a:solidFill>
              <a:effectLst/>
              <a:latin typeface="-apple-system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DBDE285-CA66-0898-428E-39A586F493DE}"/>
              </a:ext>
            </a:extLst>
          </p:cNvPr>
          <p:cNvGrpSpPr/>
          <p:nvPr/>
        </p:nvGrpSpPr>
        <p:grpSpPr>
          <a:xfrm>
            <a:off x="8748906" y="2774452"/>
            <a:ext cx="1780448" cy="2514933"/>
            <a:chOff x="8748906" y="2774452"/>
            <a:chExt cx="1780448" cy="2514933"/>
          </a:xfrm>
        </p:grpSpPr>
        <p:sp>
          <p:nvSpPr>
            <p:cNvPr id="9" name="Rechteck: gefaltete Ecke 17">
              <a:extLst>
                <a:ext uri="{FF2B5EF4-FFF2-40B4-BE49-F238E27FC236}">
                  <a16:creationId xmlns:a16="http://schemas.microsoft.com/office/drawing/2014/main" id="{62191943-CD37-F056-835E-120EC692B484}"/>
                </a:ext>
              </a:extLst>
            </p:cNvPr>
            <p:cNvSpPr/>
            <p:nvPr/>
          </p:nvSpPr>
          <p:spPr>
            <a:xfrm>
              <a:off x="8748906" y="2774452"/>
              <a:ext cx="1780448" cy="2514933"/>
            </a:xfrm>
            <a:prstGeom prst="foldedCorne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FFFF00"/>
                  </a:solidFill>
                </a:rPr>
                <a:t>Unacceptable</a:t>
              </a:r>
            </a:p>
            <a:p>
              <a:pPr algn="ctr"/>
              <a:r>
                <a:rPr lang="en-US" dirty="0"/>
                <a:t>Risk</a:t>
              </a:r>
              <a:endParaRPr lang="de-AT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009DC2F-A35D-42B5-9BF9-D9D80095F462}"/>
                </a:ext>
              </a:extLst>
            </p:cNvPr>
            <p:cNvSpPr/>
            <p:nvPr/>
          </p:nvSpPr>
          <p:spPr>
            <a:xfrm>
              <a:off x="8748906" y="4788617"/>
              <a:ext cx="596026" cy="50076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800" b="1" dirty="0"/>
                <a:t>4</a:t>
              </a:r>
              <a:endParaRPr lang="de-AT" sz="2800" b="1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7C9B3BBA-BCEA-4529-F259-2E529F772C02}"/>
              </a:ext>
            </a:extLst>
          </p:cNvPr>
          <p:cNvGrpSpPr/>
          <p:nvPr/>
        </p:nvGrpSpPr>
        <p:grpSpPr>
          <a:xfrm>
            <a:off x="3035779" y="3568409"/>
            <a:ext cx="3700806" cy="668753"/>
            <a:chOff x="5807527" y="1463221"/>
            <a:chExt cx="2874655" cy="668753"/>
          </a:xfrm>
        </p:grpSpPr>
        <p:sp>
          <p:nvSpPr>
            <p:cNvPr id="6" name="Textfeld 8">
              <a:extLst>
                <a:ext uri="{FF2B5EF4-FFF2-40B4-BE49-F238E27FC236}">
                  <a16:creationId xmlns:a16="http://schemas.microsoft.com/office/drawing/2014/main" id="{3D841BF3-3D5A-046E-3238-B67839ED3B6C}"/>
                </a:ext>
              </a:extLst>
            </p:cNvPr>
            <p:cNvSpPr txBox="1"/>
            <p:nvPr/>
          </p:nvSpPr>
          <p:spPr>
            <a:xfrm>
              <a:off x="5991139" y="1588914"/>
              <a:ext cx="253402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0" i="0" dirty="0">
                  <a:solidFill>
                    <a:srgbClr val="333333"/>
                  </a:solidFill>
                  <a:effectLst/>
                  <a:latin typeface="Helvetica Neue"/>
                </a:rPr>
                <a:t>Social Scoring Systems</a:t>
              </a:r>
              <a:endParaRPr lang="de-AT" sz="2800" dirty="0">
                <a:latin typeface="Bahnschrift SemiBold SemiConden" panose="020B0502040204020203" pitchFamily="34" charset="0"/>
              </a:endParaRPr>
            </a:p>
          </p:txBody>
        </p:sp>
        <p:sp>
          <p:nvSpPr>
            <p:cNvPr id="14" name="Rahmen 26">
              <a:extLst>
                <a:ext uri="{FF2B5EF4-FFF2-40B4-BE49-F238E27FC236}">
                  <a16:creationId xmlns:a16="http://schemas.microsoft.com/office/drawing/2014/main" id="{63AC76A7-2910-044E-4E33-F59AF2AD3953}"/>
                </a:ext>
              </a:extLst>
            </p:cNvPr>
            <p:cNvSpPr/>
            <p:nvPr/>
          </p:nvSpPr>
          <p:spPr>
            <a:xfrm>
              <a:off x="5807527" y="1463221"/>
              <a:ext cx="2874655" cy="668753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>
                <a:solidFill>
                  <a:schemeClr val="tx1"/>
                </a:solidFill>
                <a:latin typeface="Bahnschrift SemiBold SemiConden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106290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510C70-A264-599C-7F4B-782CFAE13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827" y="-66304"/>
            <a:ext cx="4087470" cy="711304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D86F97C1-F8E8-7032-D128-12BA8CE93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057" y="287783"/>
            <a:ext cx="3577702" cy="135543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DEE4BF9D-C112-EDF2-B8AD-57EBD6F73D02}"/>
              </a:ext>
            </a:extLst>
          </p:cNvPr>
          <p:cNvSpPr/>
          <p:nvPr/>
        </p:nvSpPr>
        <p:spPr>
          <a:xfrm>
            <a:off x="5585702" y="1237765"/>
            <a:ext cx="5015943" cy="7767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>
                <a:solidFill>
                  <a:schemeClr val="bg1"/>
                </a:solidFill>
                <a:latin typeface="Helvetica Neue"/>
              </a:rPr>
              <a:t>Military</a:t>
            </a:r>
            <a:endParaRPr lang="de-AT" b="1" dirty="0">
              <a:solidFill>
                <a:schemeClr val="bg1"/>
              </a:solidFill>
              <a:latin typeface="Helvetica Neue"/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2C50EB36-AD5B-0FC3-CDDC-626508B04C08}"/>
              </a:ext>
            </a:extLst>
          </p:cNvPr>
          <p:cNvSpPr/>
          <p:nvPr/>
        </p:nvSpPr>
        <p:spPr>
          <a:xfrm>
            <a:off x="5579104" y="2198639"/>
            <a:ext cx="5022541" cy="795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>
                <a:solidFill>
                  <a:schemeClr val="bg1"/>
                </a:solidFill>
                <a:latin typeface="Helvetica Neue"/>
              </a:rPr>
              <a:t>Defense</a:t>
            </a:r>
            <a:endParaRPr lang="de-AT" b="1" dirty="0">
              <a:solidFill>
                <a:schemeClr val="bg1"/>
              </a:solidFill>
              <a:latin typeface="Helvetica Neue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D75ECEC4-3528-B986-3D82-2EB8683ED96F}"/>
              </a:ext>
            </a:extLst>
          </p:cNvPr>
          <p:cNvSpPr/>
          <p:nvPr/>
        </p:nvSpPr>
        <p:spPr>
          <a:xfrm>
            <a:off x="5579104" y="3177813"/>
            <a:ext cx="5022542" cy="7767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>
                <a:solidFill>
                  <a:schemeClr val="bg1"/>
                </a:solidFill>
                <a:latin typeface="Helvetica Neue"/>
              </a:rPr>
              <a:t>National Security use</a:t>
            </a:r>
            <a:endParaRPr lang="de-AT" b="1" dirty="0">
              <a:solidFill>
                <a:schemeClr val="bg1"/>
              </a:solidFill>
              <a:latin typeface="Helvetica Neue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29795FF-509F-1CC7-DB7D-02E53464EFE3}"/>
              </a:ext>
            </a:extLst>
          </p:cNvPr>
          <p:cNvSpPr/>
          <p:nvPr/>
        </p:nvSpPr>
        <p:spPr>
          <a:xfrm>
            <a:off x="5579104" y="4138688"/>
            <a:ext cx="5022542" cy="7195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>
                <a:solidFill>
                  <a:schemeClr val="bg1"/>
                </a:solidFill>
                <a:latin typeface="Helvetica Neue"/>
              </a:rPr>
              <a:t>Science</a:t>
            </a:r>
            <a:endParaRPr lang="de-AT" b="1" dirty="0">
              <a:solidFill>
                <a:schemeClr val="bg1"/>
              </a:solidFill>
              <a:latin typeface="Helvetica Neue"/>
            </a:endParaRPr>
          </a:p>
        </p:txBody>
      </p:sp>
      <p:sp>
        <p:nvSpPr>
          <p:cNvPr id="5" name="Rechteck 6">
            <a:extLst>
              <a:ext uri="{FF2B5EF4-FFF2-40B4-BE49-F238E27FC236}">
                <a16:creationId xmlns:a16="http://schemas.microsoft.com/office/drawing/2014/main" id="{98607FF6-20CE-B635-D462-46420DCFBC4A}"/>
              </a:ext>
            </a:extLst>
          </p:cNvPr>
          <p:cNvSpPr/>
          <p:nvPr/>
        </p:nvSpPr>
        <p:spPr>
          <a:xfrm>
            <a:off x="5585702" y="5042397"/>
            <a:ext cx="5022542" cy="7195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>
                <a:solidFill>
                  <a:schemeClr val="bg1"/>
                </a:solidFill>
                <a:latin typeface="Helvetica Neue"/>
              </a:rPr>
              <a:t>Research</a:t>
            </a:r>
            <a:endParaRPr lang="de-AT" b="1" dirty="0">
              <a:solidFill>
                <a:schemeClr val="bg1"/>
              </a:solidFill>
              <a:latin typeface="Helvetica Neue"/>
            </a:endParaRPr>
          </a:p>
        </p:txBody>
      </p:sp>
      <p:pic>
        <p:nvPicPr>
          <p:cNvPr id="14" name="Picture 13" descr="A white paper with black text">
            <a:extLst>
              <a:ext uri="{FF2B5EF4-FFF2-40B4-BE49-F238E27FC236}">
                <a16:creationId xmlns:a16="http://schemas.microsoft.com/office/drawing/2014/main" id="{4F902634-5326-22D7-D2D5-9DCBB7EB32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815" y="287118"/>
            <a:ext cx="2434293" cy="243429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2" name="Textfeld 50">
            <a:extLst>
              <a:ext uri="{FF2B5EF4-FFF2-40B4-BE49-F238E27FC236}">
                <a16:creationId xmlns:a16="http://schemas.microsoft.com/office/drawing/2014/main" id="{396F88E3-4E6F-A096-46AE-BA8EF4445740}"/>
              </a:ext>
            </a:extLst>
          </p:cNvPr>
          <p:cNvSpPr txBox="1"/>
          <p:nvPr/>
        </p:nvSpPr>
        <p:spPr>
          <a:xfrm>
            <a:off x="52314" y="6543628"/>
            <a:ext cx="1055593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1" i="0" dirty="0">
                <a:solidFill>
                  <a:schemeClr val="bg1"/>
                </a:solidFill>
                <a:effectLst/>
                <a:latin typeface="-apple-system"/>
              </a:rPr>
              <a:t>Quelle: GPAI – Global Partnership on Artificial Intelligence: </a:t>
            </a:r>
            <a:r>
              <a:rPr lang="en-US" sz="900" dirty="0">
                <a:solidFill>
                  <a:schemeClr val="bg1"/>
                </a:solidFill>
                <a:latin typeface="-apple-system"/>
              </a:rPr>
              <a:t>https://www.gpai.ai</a:t>
            </a:r>
            <a:endParaRPr lang="en-US" sz="900" b="0" i="0" dirty="0">
              <a:solidFill>
                <a:schemeClr val="bg1"/>
              </a:solidFill>
              <a:effectLst/>
              <a:latin typeface="-apple-system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6E0B1B64-1FC3-18E5-EA1D-C09AB7EC81FE}"/>
              </a:ext>
            </a:extLst>
          </p:cNvPr>
          <p:cNvSpPr/>
          <p:nvPr/>
        </p:nvSpPr>
        <p:spPr>
          <a:xfrm>
            <a:off x="-15957" y="2993687"/>
            <a:ext cx="4037839" cy="9930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b="1" dirty="0">
                <a:latin typeface="Helvetica Neue"/>
              </a:rPr>
              <a:t>Exemptions</a:t>
            </a:r>
            <a:endParaRPr lang="de-AT" sz="2400" b="1" dirty="0"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2201511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510C70-A264-599C-7F4B-782CFAE13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827" y="-66304"/>
            <a:ext cx="4087470" cy="711304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D86F97C1-F8E8-7032-D128-12BA8CE93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057" y="287783"/>
            <a:ext cx="3577702" cy="135543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pic>
        <p:nvPicPr>
          <p:cNvPr id="14" name="Picture 13" descr="A white paper with black text">
            <a:extLst>
              <a:ext uri="{FF2B5EF4-FFF2-40B4-BE49-F238E27FC236}">
                <a16:creationId xmlns:a16="http://schemas.microsoft.com/office/drawing/2014/main" id="{4F902634-5326-22D7-D2D5-9DCBB7EB32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815" y="287118"/>
            <a:ext cx="2434293" cy="243429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2" name="Textfeld 50">
            <a:extLst>
              <a:ext uri="{FF2B5EF4-FFF2-40B4-BE49-F238E27FC236}">
                <a16:creationId xmlns:a16="http://schemas.microsoft.com/office/drawing/2014/main" id="{396F88E3-4E6F-A096-46AE-BA8EF4445740}"/>
              </a:ext>
            </a:extLst>
          </p:cNvPr>
          <p:cNvSpPr txBox="1"/>
          <p:nvPr/>
        </p:nvSpPr>
        <p:spPr>
          <a:xfrm>
            <a:off x="52314" y="6543628"/>
            <a:ext cx="1055593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1" i="0" dirty="0">
                <a:solidFill>
                  <a:schemeClr val="bg1"/>
                </a:solidFill>
                <a:effectLst/>
                <a:latin typeface="-apple-system"/>
              </a:rPr>
              <a:t>Quelle: GPAI – Global Partnership on Artificial Intelligence: </a:t>
            </a:r>
            <a:r>
              <a:rPr lang="en-US" sz="900" dirty="0">
                <a:solidFill>
                  <a:schemeClr val="bg1"/>
                </a:solidFill>
                <a:latin typeface="-apple-system"/>
              </a:rPr>
              <a:t>https://www.gpai.ai</a:t>
            </a:r>
            <a:endParaRPr lang="en-US" sz="900" b="0" i="0" dirty="0">
              <a:solidFill>
                <a:schemeClr val="bg1"/>
              </a:solidFill>
              <a:effectLst/>
              <a:latin typeface="-apple-system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6E0B1B64-1FC3-18E5-EA1D-C09AB7EC81FE}"/>
              </a:ext>
            </a:extLst>
          </p:cNvPr>
          <p:cNvSpPr/>
          <p:nvPr/>
        </p:nvSpPr>
        <p:spPr>
          <a:xfrm>
            <a:off x="-15957" y="2993687"/>
            <a:ext cx="4037839" cy="9930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b="1" dirty="0">
                <a:latin typeface="Helvetica Neue"/>
              </a:rPr>
              <a:t>Exemptions</a:t>
            </a:r>
            <a:endParaRPr lang="de-AT" sz="2400" b="1" dirty="0"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8248441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6F97C1-F8E8-7032-D128-12BA8CE93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057" y="287783"/>
            <a:ext cx="3577702" cy="135543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8F6AA528-7A26-F11E-4B29-F05582D6E550}"/>
              </a:ext>
            </a:extLst>
          </p:cNvPr>
          <p:cNvSpPr txBox="1"/>
          <p:nvPr/>
        </p:nvSpPr>
        <p:spPr>
          <a:xfrm>
            <a:off x="51504" y="6588376"/>
            <a:ext cx="1055593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1" i="0" dirty="0">
                <a:solidFill>
                  <a:schemeClr val="bg1"/>
                </a:solidFill>
                <a:effectLst/>
                <a:latin typeface="-apple-system"/>
              </a:rPr>
              <a:t>Quelle: GPAI – Global Partnership on Artificial Intelligence: </a:t>
            </a:r>
            <a:r>
              <a:rPr lang="en-US" sz="900" dirty="0">
                <a:solidFill>
                  <a:schemeClr val="bg1"/>
                </a:solidFill>
                <a:latin typeface="-apple-system"/>
              </a:rPr>
              <a:t>https://www.gpai.ai</a:t>
            </a:r>
            <a:endParaRPr lang="en-US" sz="900" b="0" i="0" dirty="0">
              <a:solidFill>
                <a:schemeClr val="bg1"/>
              </a:solidFill>
              <a:effectLst/>
              <a:latin typeface="-apple-system"/>
            </a:endParaRPr>
          </a:p>
        </p:txBody>
      </p:sp>
      <p:sp>
        <p:nvSpPr>
          <p:cNvPr id="26" name="Textfeld 28">
            <a:extLst>
              <a:ext uri="{FF2B5EF4-FFF2-40B4-BE49-F238E27FC236}">
                <a16:creationId xmlns:a16="http://schemas.microsoft.com/office/drawing/2014/main" id="{89D9312F-A7DC-91BE-0B50-A8D7BA87DA86}"/>
              </a:ext>
            </a:extLst>
          </p:cNvPr>
          <p:cNvSpPr txBox="1"/>
          <p:nvPr/>
        </p:nvSpPr>
        <p:spPr>
          <a:xfrm>
            <a:off x="255181" y="108639"/>
            <a:ext cx="11699578" cy="8002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endParaRPr lang="de-AT" sz="1800" b="1" dirty="0"/>
          </a:p>
          <a:p>
            <a:r>
              <a:rPr lang="de-AT" sz="2800" b="1" dirty="0"/>
              <a:t> 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AF4C2B08-B7AB-44B0-601E-E035E35B7FE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896" b="9868"/>
          <a:stretch/>
        </p:blipFill>
        <p:spPr>
          <a:xfrm>
            <a:off x="-57705" y="6401164"/>
            <a:ext cx="12325350" cy="440961"/>
          </a:xfrm>
          <a:prstGeom prst="rect">
            <a:avLst/>
          </a:prstGeom>
        </p:spPr>
      </p:pic>
      <p:sp>
        <p:nvSpPr>
          <p:cNvPr id="7" name="Textfeld 50">
            <a:extLst>
              <a:ext uri="{FF2B5EF4-FFF2-40B4-BE49-F238E27FC236}">
                <a16:creationId xmlns:a16="http://schemas.microsoft.com/office/drawing/2014/main" id="{9819DEC0-1C42-327F-5AF2-C4FBFDBB8288}"/>
              </a:ext>
            </a:extLst>
          </p:cNvPr>
          <p:cNvSpPr txBox="1"/>
          <p:nvPr/>
        </p:nvSpPr>
        <p:spPr>
          <a:xfrm>
            <a:off x="208706" y="6507336"/>
            <a:ext cx="1055593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1" i="0" dirty="0">
                <a:solidFill>
                  <a:schemeClr val="bg1"/>
                </a:solidFill>
                <a:effectLst/>
                <a:latin typeface="-apple-system"/>
              </a:rPr>
              <a:t>Quelle: GPAI – Global Partnership on Artificial Intelligence: </a:t>
            </a:r>
            <a:r>
              <a:rPr lang="en-US" sz="900" dirty="0">
                <a:solidFill>
                  <a:schemeClr val="bg1"/>
                </a:solidFill>
                <a:latin typeface="-apple-system"/>
              </a:rPr>
              <a:t>https://www.gpai.ai</a:t>
            </a:r>
            <a:endParaRPr lang="en-US" sz="900" b="0" i="0" dirty="0">
              <a:solidFill>
                <a:schemeClr val="bg1"/>
              </a:solidFill>
              <a:effectLst/>
              <a:latin typeface="-apple-system"/>
            </a:endParaRPr>
          </a:p>
        </p:txBody>
      </p:sp>
      <p:sp>
        <p:nvSpPr>
          <p:cNvPr id="3" name="Rechteck 5">
            <a:extLst>
              <a:ext uri="{FF2B5EF4-FFF2-40B4-BE49-F238E27FC236}">
                <a16:creationId xmlns:a16="http://schemas.microsoft.com/office/drawing/2014/main" id="{985945FA-6D78-AF72-0246-B6F19F930181}"/>
              </a:ext>
            </a:extLst>
          </p:cNvPr>
          <p:cNvSpPr/>
          <p:nvPr/>
        </p:nvSpPr>
        <p:spPr>
          <a:xfrm>
            <a:off x="441254" y="1381408"/>
            <a:ext cx="3691792" cy="6046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3600" dirty="0">
                <a:solidFill>
                  <a:schemeClr val="bg1"/>
                </a:solidFill>
              </a:rPr>
              <a:t>Discussioin</a:t>
            </a:r>
            <a:endParaRPr lang="de-AT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2B833E-B06F-4DE3-BF2E-85931F100A62}"/>
              </a:ext>
            </a:extLst>
          </p:cNvPr>
          <p:cNvSpPr txBox="1"/>
          <p:nvPr/>
        </p:nvSpPr>
        <p:spPr>
          <a:xfrm>
            <a:off x="6962274" y="2742923"/>
            <a:ext cx="2422357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600" dirty="0"/>
              <a:t>✋</a:t>
            </a:r>
          </a:p>
          <a:p>
            <a:pPr algn="ctr"/>
            <a:r>
              <a:rPr lang="de-DE" sz="2800" dirty="0"/>
              <a:t>New Topic</a:t>
            </a:r>
            <a:endParaRPr lang="de-AT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DEA090-FD65-E617-4F84-A561BC6C3821}"/>
              </a:ext>
            </a:extLst>
          </p:cNvPr>
          <p:cNvSpPr txBox="1"/>
          <p:nvPr/>
        </p:nvSpPr>
        <p:spPr>
          <a:xfrm>
            <a:off x="2596580" y="2745296"/>
            <a:ext cx="2422357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AT" sz="16600" b="1" dirty="0">
                <a:hlinkClick r:id="rId3"/>
              </a:rPr>
              <a:t>☝️</a:t>
            </a:r>
          </a:p>
          <a:p>
            <a:pPr algn="ctr"/>
            <a:r>
              <a:rPr lang="de-DE" sz="2400" dirty="0"/>
              <a:t>Same Topic</a:t>
            </a:r>
            <a:endParaRPr lang="de-AT" sz="2400" dirty="0"/>
          </a:p>
        </p:txBody>
      </p:sp>
    </p:spTree>
    <p:extLst>
      <p:ext uri="{BB962C8B-B14F-4D97-AF65-F5344CB8AC3E}">
        <p14:creationId xmlns:p14="http://schemas.microsoft.com/office/powerpoint/2010/main" val="21137246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20">
            <a:extLst>
              <a:ext uri="{FF2B5EF4-FFF2-40B4-BE49-F238E27FC236}">
                <a16:creationId xmlns:a16="http://schemas.microsoft.com/office/drawing/2014/main" id="{2596F992-698C-48C0-9D89-70DA4CE92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344AAA5-41F4-4862-97EF-688D31DC7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85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9E1A62C-2AAF-4B3E-8CDB-65E2370809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2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B1D89DEE-FD9A-1245-D155-3F82F7283751}"/>
              </a:ext>
            </a:extLst>
          </p:cNvPr>
          <p:cNvSpPr txBox="1"/>
          <p:nvPr/>
        </p:nvSpPr>
        <p:spPr>
          <a:xfrm>
            <a:off x="93977" y="845910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AT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endParaRPr lang="de-AT" sz="2400" dirty="0"/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EBC87EA2-6A1C-7569-2CE3-12E8DBFE09F0}"/>
              </a:ext>
            </a:extLst>
          </p:cNvPr>
          <p:cNvSpPr txBox="1"/>
          <p:nvPr/>
        </p:nvSpPr>
        <p:spPr>
          <a:xfrm>
            <a:off x="7964863" y="108640"/>
            <a:ext cx="3989896" cy="107721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endParaRPr lang="de-AT" sz="1800" b="1" dirty="0"/>
          </a:p>
          <a:p>
            <a:r>
              <a:rPr lang="de-AT" sz="2800" b="1" dirty="0"/>
              <a:t> </a:t>
            </a:r>
          </a:p>
          <a:p>
            <a:endParaRPr lang="de-AT" dirty="0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2AE13A5C-D77C-F972-7A69-258C0A62F154}"/>
              </a:ext>
            </a:extLst>
          </p:cNvPr>
          <p:cNvSpPr txBox="1"/>
          <p:nvPr/>
        </p:nvSpPr>
        <p:spPr>
          <a:xfrm>
            <a:off x="1409803" y="6487750"/>
            <a:ext cx="102095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sz="1100" i="1" spc="1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endParaRPr lang="de-AT" sz="1100" dirty="0">
              <a:solidFill>
                <a:schemeClr val="bg1"/>
              </a:solidFill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CA5953D7-EF0F-43FB-B949-D93289BA25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1711" y="2848480"/>
            <a:ext cx="11986127" cy="116103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737302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86F97C1-F8E8-7032-D128-12BA8CE93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057" y="287783"/>
            <a:ext cx="3577702" cy="135543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10" name="Rahmen 9">
            <a:extLst>
              <a:ext uri="{FF2B5EF4-FFF2-40B4-BE49-F238E27FC236}">
                <a16:creationId xmlns:a16="http://schemas.microsoft.com/office/drawing/2014/main" id="{0CD452B6-F334-10B2-AE67-0213B2236DB3}"/>
              </a:ext>
            </a:extLst>
          </p:cNvPr>
          <p:cNvSpPr/>
          <p:nvPr/>
        </p:nvSpPr>
        <p:spPr>
          <a:xfrm>
            <a:off x="5210320" y="5558585"/>
            <a:ext cx="1114269" cy="872881"/>
          </a:xfrm>
          <a:prstGeom prst="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>
              <a:solidFill>
                <a:schemeClr val="tx1"/>
              </a:solidFill>
            </a:endParaRPr>
          </a:p>
        </p:txBody>
      </p:sp>
      <p:sp>
        <p:nvSpPr>
          <p:cNvPr id="12" name="Rahmen 11">
            <a:extLst>
              <a:ext uri="{FF2B5EF4-FFF2-40B4-BE49-F238E27FC236}">
                <a16:creationId xmlns:a16="http://schemas.microsoft.com/office/drawing/2014/main" id="{D9EB6E61-A630-DF19-CE69-FCD62356A1E5}"/>
              </a:ext>
            </a:extLst>
          </p:cNvPr>
          <p:cNvSpPr/>
          <p:nvPr/>
        </p:nvSpPr>
        <p:spPr>
          <a:xfrm>
            <a:off x="6382750" y="5553203"/>
            <a:ext cx="1056372" cy="873244"/>
          </a:xfrm>
          <a:prstGeom prst="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>
              <a:solidFill>
                <a:schemeClr val="tx1"/>
              </a:solidFill>
            </a:endParaRPr>
          </a:p>
        </p:txBody>
      </p:sp>
      <p:sp>
        <p:nvSpPr>
          <p:cNvPr id="14" name="Rahmen 13">
            <a:extLst>
              <a:ext uri="{FF2B5EF4-FFF2-40B4-BE49-F238E27FC236}">
                <a16:creationId xmlns:a16="http://schemas.microsoft.com/office/drawing/2014/main" id="{04AC9F4C-703C-D14C-62EF-A7A3178A9B87}"/>
              </a:ext>
            </a:extLst>
          </p:cNvPr>
          <p:cNvSpPr/>
          <p:nvPr/>
        </p:nvSpPr>
        <p:spPr>
          <a:xfrm>
            <a:off x="7486962" y="5553203"/>
            <a:ext cx="1593045" cy="880633"/>
          </a:xfrm>
          <a:prstGeom prst="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>
              <a:solidFill>
                <a:schemeClr val="tx1"/>
              </a:solidFill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5C37A15A-4B53-0803-2C68-67DEECEA1234}"/>
              </a:ext>
            </a:extLst>
          </p:cNvPr>
          <p:cNvSpPr txBox="1"/>
          <p:nvPr/>
        </p:nvSpPr>
        <p:spPr>
          <a:xfrm>
            <a:off x="4481467" y="6033420"/>
            <a:ext cx="670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 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9E27D88E-8737-BCD7-D166-8AD016B20075}"/>
              </a:ext>
            </a:extLst>
          </p:cNvPr>
          <p:cNvSpPr txBox="1"/>
          <p:nvPr/>
        </p:nvSpPr>
        <p:spPr>
          <a:xfrm>
            <a:off x="7527149" y="5873767"/>
            <a:ext cx="1595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b="0" i="0" dirty="0" err="1">
                <a:solidFill>
                  <a:srgbClr val="333333"/>
                </a:solidFill>
                <a:effectLst/>
                <a:latin typeface="Helvetica Neue"/>
              </a:rPr>
              <a:t>governments</a:t>
            </a:r>
            <a:endParaRPr lang="de-AT" dirty="0"/>
          </a:p>
        </p:txBody>
      </p:sp>
      <p:sp>
        <p:nvSpPr>
          <p:cNvPr id="5" name="Pfeil: nach unten 4">
            <a:extLst>
              <a:ext uri="{FF2B5EF4-FFF2-40B4-BE49-F238E27FC236}">
                <a16:creationId xmlns:a16="http://schemas.microsoft.com/office/drawing/2014/main" id="{9B885686-63DB-F681-C490-41C93880162C}"/>
              </a:ext>
            </a:extLst>
          </p:cNvPr>
          <p:cNvSpPr/>
          <p:nvPr/>
        </p:nvSpPr>
        <p:spPr>
          <a:xfrm>
            <a:off x="5510726" y="1826030"/>
            <a:ext cx="310719" cy="47939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6E0B1B64-1FC3-18E5-EA1D-C09AB7EC81FE}"/>
              </a:ext>
            </a:extLst>
          </p:cNvPr>
          <p:cNvSpPr/>
          <p:nvPr/>
        </p:nvSpPr>
        <p:spPr>
          <a:xfrm>
            <a:off x="4208203" y="2467294"/>
            <a:ext cx="4037839" cy="9930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2400" b="1" dirty="0">
                <a:latin typeface="Helvetica Neue"/>
              </a:rPr>
              <a:t>Multi-</a:t>
            </a:r>
            <a:r>
              <a:rPr lang="de-AT" sz="2400" b="1" dirty="0" err="1">
                <a:latin typeface="Helvetica Neue"/>
              </a:rPr>
              <a:t>stakeholder</a:t>
            </a:r>
            <a:r>
              <a:rPr lang="de-AT" sz="2400" b="1" dirty="0">
                <a:latin typeface="Helvetica Neue"/>
              </a:rPr>
              <a:t>-initiative</a:t>
            </a:r>
          </a:p>
        </p:txBody>
      </p:sp>
      <p:sp>
        <p:nvSpPr>
          <p:cNvPr id="29" name="Pfeil: nach unten 28">
            <a:extLst>
              <a:ext uri="{FF2B5EF4-FFF2-40B4-BE49-F238E27FC236}">
                <a16:creationId xmlns:a16="http://schemas.microsoft.com/office/drawing/2014/main" id="{34B62F39-589E-9CFA-0C71-7A240505C4D6}"/>
              </a:ext>
            </a:extLst>
          </p:cNvPr>
          <p:cNvSpPr/>
          <p:nvPr/>
        </p:nvSpPr>
        <p:spPr>
          <a:xfrm rot="16200000">
            <a:off x="4535477" y="3906633"/>
            <a:ext cx="310719" cy="47939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DEE4BF9D-C112-EDF2-B8AD-57EBD6F73D02}"/>
              </a:ext>
            </a:extLst>
          </p:cNvPr>
          <p:cNvSpPr/>
          <p:nvPr/>
        </p:nvSpPr>
        <p:spPr>
          <a:xfrm>
            <a:off x="5152103" y="3685051"/>
            <a:ext cx="6404144" cy="7767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 dirty="0">
                <a:solidFill>
                  <a:schemeClr val="bg1"/>
                </a:solidFill>
                <a:effectLst/>
                <a:latin typeface="Helvetica Neue"/>
              </a:rPr>
              <a:t>bridge the gap between theory and practice</a:t>
            </a:r>
            <a:endParaRPr lang="de-AT" dirty="0">
              <a:solidFill>
                <a:schemeClr val="bg1"/>
              </a:solidFill>
            </a:endParaRP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66D6E58A-9189-8CE7-77FD-DB101F3D3775}"/>
              </a:ext>
            </a:extLst>
          </p:cNvPr>
          <p:cNvSpPr txBox="1"/>
          <p:nvPr/>
        </p:nvSpPr>
        <p:spPr>
          <a:xfrm>
            <a:off x="5195948" y="5877802"/>
            <a:ext cx="10930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b="0" i="0" dirty="0">
                <a:solidFill>
                  <a:srgbClr val="333333"/>
                </a:solidFill>
                <a:effectLst/>
                <a:latin typeface="Helvetica Neue"/>
              </a:rPr>
              <a:t> </a:t>
            </a:r>
            <a:r>
              <a:rPr lang="de-AT" b="0" i="0" dirty="0" err="1">
                <a:solidFill>
                  <a:srgbClr val="333333"/>
                </a:solidFill>
                <a:effectLst/>
                <a:latin typeface="Helvetica Neue"/>
              </a:rPr>
              <a:t>industry</a:t>
            </a:r>
            <a:endParaRPr lang="de-AT" dirty="0"/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B509D85D-EED9-82E3-DBBE-AAB1770C633A}"/>
              </a:ext>
            </a:extLst>
          </p:cNvPr>
          <p:cNvSpPr txBox="1"/>
          <p:nvPr/>
        </p:nvSpPr>
        <p:spPr>
          <a:xfrm>
            <a:off x="4117779" y="5823443"/>
            <a:ext cx="10439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b="0" i="0" dirty="0" err="1">
                <a:solidFill>
                  <a:srgbClr val="333333"/>
                </a:solidFill>
                <a:effectLst/>
                <a:latin typeface="Helvetica Neue"/>
              </a:rPr>
              <a:t>science</a:t>
            </a:r>
            <a:endParaRPr lang="de-AT" dirty="0"/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24983B18-D8C4-8AF7-B851-8DB9894B7CB0}"/>
              </a:ext>
            </a:extLst>
          </p:cNvPr>
          <p:cNvSpPr txBox="1"/>
          <p:nvPr/>
        </p:nvSpPr>
        <p:spPr>
          <a:xfrm>
            <a:off x="6472594" y="5710254"/>
            <a:ext cx="9826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b="0" i="0" dirty="0" err="1">
                <a:solidFill>
                  <a:srgbClr val="333333"/>
                </a:solidFill>
                <a:effectLst/>
                <a:latin typeface="Helvetica Neue"/>
              </a:rPr>
              <a:t>civil</a:t>
            </a:r>
            <a:r>
              <a:rPr lang="de-AT" b="0" i="0" dirty="0">
                <a:solidFill>
                  <a:srgbClr val="333333"/>
                </a:solidFill>
                <a:effectLst/>
                <a:latin typeface="Helvetica Neue"/>
              </a:rPr>
              <a:t> </a:t>
            </a:r>
          </a:p>
          <a:p>
            <a:r>
              <a:rPr lang="de-AT" b="0" i="0" dirty="0" err="1">
                <a:solidFill>
                  <a:srgbClr val="333333"/>
                </a:solidFill>
                <a:effectLst/>
                <a:latin typeface="Helvetica Neue"/>
              </a:rPr>
              <a:t>society</a:t>
            </a:r>
            <a:endParaRPr lang="de-AT" dirty="0"/>
          </a:p>
        </p:txBody>
      </p:sp>
      <p:sp>
        <p:nvSpPr>
          <p:cNvPr id="37" name="Pfeil: nach unten 36">
            <a:extLst>
              <a:ext uri="{FF2B5EF4-FFF2-40B4-BE49-F238E27FC236}">
                <a16:creationId xmlns:a16="http://schemas.microsoft.com/office/drawing/2014/main" id="{2E0C70AD-EDD5-10A8-AC72-CA8A16165FFC}"/>
              </a:ext>
            </a:extLst>
          </p:cNvPr>
          <p:cNvSpPr/>
          <p:nvPr/>
        </p:nvSpPr>
        <p:spPr>
          <a:xfrm>
            <a:off x="8108026" y="4808384"/>
            <a:ext cx="310719" cy="47939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38" name="Pfeil: nach unten 37">
            <a:extLst>
              <a:ext uri="{FF2B5EF4-FFF2-40B4-BE49-F238E27FC236}">
                <a16:creationId xmlns:a16="http://schemas.microsoft.com/office/drawing/2014/main" id="{856ED241-A8CB-73BC-7285-2E5DF5E432A0}"/>
              </a:ext>
            </a:extLst>
          </p:cNvPr>
          <p:cNvSpPr/>
          <p:nvPr/>
        </p:nvSpPr>
        <p:spPr>
          <a:xfrm>
            <a:off x="6653188" y="4832308"/>
            <a:ext cx="310719" cy="47939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39" name="Pfeil: nach unten 38">
            <a:extLst>
              <a:ext uri="{FF2B5EF4-FFF2-40B4-BE49-F238E27FC236}">
                <a16:creationId xmlns:a16="http://schemas.microsoft.com/office/drawing/2014/main" id="{D989278E-C123-3B06-010E-59D3347531F3}"/>
              </a:ext>
            </a:extLst>
          </p:cNvPr>
          <p:cNvSpPr/>
          <p:nvPr/>
        </p:nvSpPr>
        <p:spPr>
          <a:xfrm>
            <a:off x="5464621" y="4832308"/>
            <a:ext cx="310719" cy="47939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40" name="Pfeil: nach unten 39">
            <a:extLst>
              <a:ext uri="{FF2B5EF4-FFF2-40B4-BE49-F238E27FC236}">
                <a16:creationId xmlns:a16="http://schemas.microsoft.com/office/drawing/2014/main" id="{B64C7763-F25B-85BB-3D76-9B6065287C1C}"/>
              </a:ext>
            </a:extLst>
          </p:cNvPr>
          <p:cNvSpPr/>
          <p:nvPr/>
        </p:nvSpPr>
        <p:spPr>
          <a:xfrm>
            <a:off x="4380117" y="4832308"/>
            <a:ext cx="310719" cy="47939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41" name="Pfeil: nach unten 40">
            <a:extLst>
              <a:ext uri="{FF2B5EF4-FFF2-40B4-BE49-F238E27FC236}">
                <a16:creationId xmlns:a16="http://schemas.microsoft.com/office/drawing/2014/main" id="{4118B2C9-0201-1DE2-EF18-BFC2FF674835}"/>
              </a:ext>
            </a:extLst>
          </p:cNvPr>
          <p:cNvSpPr/>
          <p:nvPr/>
        </p:nvSpPr>
        <p:spPr>
          <a:xfrm>
            <a:off x="9853085" y="4832308"/>
            <a:ext cx="310719" cy="47939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42" name="Rahmen 41">
            <a:extLst>
              <a:ext uri="{FF2B5EF4-FFF2-40B4-BE49-F238E27FC236}">
                <a16:creationId xmlns:a16="http://schemas.microsoft.com/office/drawing/2014/main" id="{C5853779-8B0D-C9FA-1A93-9212FF6A13E8}"/>
              </a:ext>
            </a:extLst>
          </p:cNvPr>
          <p:cNvSpPr/>
          <p:nvPr/>
        </p:nvSpPr>
        <p:spPr>
          <a:xfrm>
            <a:off x="9118759" y="5556524"/>
            <a:ext cx="1779373" cy="873774"/>
          </a:xfrm>
          <a:prstGeom prst="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b="0" i="0" dirty="0">
                <a:solidFill>
                  <a:srgbClr val="333333"/>
                </a:solidFill>
                <a:effectLst/>
                <a:latin typeface="Helvetica Neue"/>
              </a:rPr>
              <a:t>international </a:t>
            </a:r>
            <a:r>
              <a:rPr lang="de-AT" b="0" i="0" dirty="0" err="1">
                <a:solidFill>
                  <a:srgbClr val="333333"/>
                </a:solidFill>
                <a:effectLst/>
                <a:latin typeface="Helvetica Neue"/>
              </a:rPr>
              <a:t>organisations</a:t>
            </a:r>
            <a:endParaRPr lang="de-AT" dirty="0">
              <a:solidFill>
                <a:schemeClr val="tx1"/>
              </a:solidFill>
            </a:endParaRPr>
          </a:p>
        </p:txBody>
      </p:sp>
      <p:sp>
        <p:nvSpPr>
          <p:cNvPr id="44" name="Rahmen 43">
            <a:extLst>
              <a:ext uri="{FF2B5EF4-FFF2-40B4-BE49-F238E27FC236}">
                <a16:creationId xmlns:a16="http://schemas.microsoft.com/office/drawing/2014/main" id="{DA99333D-4574-F78D-478C-9EBF90702B70}"/>
              </a:ext>
            </a:extLst>
          </p:cNvPr>
          <p:cNvSpPr/>
          <p:nvPr/>
        </p:nvSpPr>
        <p:spPr>
          <a:xfrm>
            <a:off x="10929873" y="5543964"/>
            <a:ext cx="1306919" cy="886333"/>
          </a:xfrm>
          <a:prstGeom prst="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>
              <a:solidFill>
                <a:schemeClr val="tx1"/>
              </a:solidFill>
            </a:endParaRPr>
          </a:p>
        </p:txBody>
      </p:sp>
      <p:sp>
        <p:nvSpPr>
          <p:cNvPr id="45" name="Rahmen 44">
            <a:extLst>
              <a:ext uri="{FF2B5EF4-FFF2-40B4-BE49-F238E27FC236}">
                <a16:creationId xmlns:a16="http://schemas.microsoft.com/office/drawing/2014/main" id="{878A48CE-59B9-05DB-6315-7ACB2ECDDDEC}"/>
              </a:ext>
            </a:extLst>
          </p:cNvPr>
          <p:cNvSpPr/>
          <p:nvPr/>
        </p:nvSpPr>
        <p:spPr>
          <a:xfrm>
            <a:off x="4062326" y="5558585"/>
            <a:ext cx="1082288" cy="869656"/>
          </a:xfrm>
          <a:prstGeom prst="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>
              <a:solidFill>
                <a:schemeClr val="tx1"/>
              </a:solidFill>
            </a:endParaRP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1296DD78-0282-C015-9DD3-9BFE4F972751}"/>
              </a:ext>
            </a:extLst>
          </p:cNvPr>
          <p:cNvSpPr txBox="1"/>
          <p:nvPr/>
        </p:nvSpPr>
        <p:spPr>
          <a:xfrm>
            <a:off x="10995238" y="5863684"/>
            <a:ext cx="12407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b="0" i="0" dirty="0" err="1">
                <a:solidFill>
                  <a:srgbClr val="333333"/>
                </a:solidFill>
                <a:effectLst/>
                <a:latin typeface="Helvetica Neue"/>
              </a:rPr>
              <a:t>academia</a:t>
            </a:r>
            <a:endParaRPr lang="de-AT" dirty="0"/>
          </a:p>
        </p:txBody>
      </p:sp>
      <p:sp>
        <p:nvSpPr>
          <p:cNvPr id="49" name="Pfeil: nach unten 48">
            <a:extLst>
              <a:ext uri="{FF2B5EF4-FFF2-40B4-BE49-F238E27FC236}">
                <a16:creationId xmlns:a16="http://schemas.microsoft.com/office/drawing/2014/main" id="{CE0A309C-94F8-35BC-CE5C-F6B1C19A0B44}"/>
              </a:ext>
            </a:extLst>
          </p:cNvPr>
          <p:cNvSpPr/>
          <p:nvPr/>
        </p:nvSpPr>
        <p:spPr>
          <a:xfrm>
            <a:off x="11400887" y="4832308"/>
            <a:ext cx="310719" cy="47939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8F6AA528-7A26-F11E-4B29-F05582D6E550}"/>
              </a:ext>
            </a:extLst>
          </p:cNvPr>
          <p:cNvSpPr txBox="1"/>
          <p:nvPr/>
        </p:nvSpPr>
        <p:spPr>
          <a:xfrm>
            <a:off x="51504" y="6588376"/>
            <a:ext cx="1055593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1" i="0" dirty="0">
                <a:solidFill>
                  <a:schemeClr val="bg1"/>
                </a:solidFill>
                <a:effectLst/>
                <a:latin typeface="-apple-system"/>
              </a:rPr>
              <a:t>Quelle: GPAI – Global Partnership on Artificial Intelligence: </a:t>
            </a:r>
            <a:r>
              <a:rPr lang="en-US" sz="900" dirty="0">
                <a:solidFill>
                  <a:schemeClr val="bg1"/>
                </a:solidFill>
                <a:latin typeface="-apple-system"/>
              </a:rPr>
              <a:t>https://www.gpai.ai</a:t>
            </a:r>
            <a:endParaRPr lang="en-US" sz="900" b="0" i="0" dirty="0">
              <a:solidFill>
                <a:schemeClr val="bg1"/>
              </a:solidFill>
              <a:effectLst/>
              <a:latin typeface="-apple-system"/>
            </a:endParaRPr>
          </a:p>
        </p:txBody>
      </p:sp>
      <p:pic>
        <p:nvPicPr>
          <p:cNvPr id="4" name="Grafik 1">
            <a:extLst>
              <a:ext uri="{FF2B5EF4-FFF2-40B4-BE49-F238E27FC236}">
                <a16:creationId xmlns:a16="http://schemas.microsoft.com/office/drawing/2014/main" id="{7FBA35C6-523F-B1AA-FB93-C205E96BD8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851" y="800374"/>
            <a:ext cx="8901448" cy="862242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rafik 52">
            <a:extLst>
              <a:ext uri="{FF2B5EF4-FFF2-40B4-BE49-F238E27FC236}">
                <a16:creationId xmlns:a16="http://schemas.microsoft.com/office/drawing/2014/main" id="{D505FCD4-2B0E-3C18-128C-89D44BE608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4438" y="97269"/>
            <a:ext cx="4335978" cy="2209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5826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86F97C1-F8E8-7032-D128-12BA8CE93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057" y="287783"/>
            <a:ext cx="3577702" cy="135543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6E0B1B64-1FC3-18E5-EA1D-C09AB7EC81FE}"/>
              </a:ext>
            </a:extLst>
          </p:cNvPr>
          <p:cNvSpPr/>
          <p:nvPr/>
        </p:nvSpPr>
        <p:spPr>
          <a:xfrm>
            <a:off x="-15957" y="2993687"/>
            <a:ext cx="4037839" cy="9930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2400" b="1" dirty="0" err="1">
                <a:latin typeface="Helvetica Neue"/>
              </a:rPr>
              <a:t>Structure</a:t>
            </a:r>
            <a:endParaRPr lang="de-AT" sz="2400" b="1" dirty="0">
              <a:latin typeface="Helvetica Neue"/>
            </a:endParaRP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DEE4BF9D-C112-EDF2-B8AD-57EBD6F73D02}"/>
              </a:ext>
            </a:extLst>
          </p:cNvPr>
          <p:cNvSpPr/>
          <p:nvPr/>
        </p:nvSpPr>
        <p:spPr>
          <a:xfrm>
            <a:off x="5646196" y="2065727"/>
            <a:ext cx="5015943" cy="7767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b="1" i="0" dirty="0">
                <a:solidFill>
                  <a:schemeClr val="bg1"/>
                </a:solidFill>
                <a:effectLst/>
                <a:latin typeface="Helvetica Neue"/>
              </a:rPr>
              <a:t>GPAI Council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2C50EB36-AD5B-0FC3-CDDC-626508B04C08}"/>
              </a:ext>
            </a:extLst>
          </p:cNvPr>
          <p:cNvSpPr/>
          <p:nvPr/>
        </p:nvSpPr>
        <p:spPr>
          <a:xfrm>
            <a:off x="5646196" y="2988468"/>
            <a:ext cx="5022541" cy="795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b="1" i="0" dirty="0">
                <a:solidFill>
                  <a:schemeClr val="bg1"/>
                </a:solidFill>
                <a:effectLst/>
                <a:latin typeface="Helvetica Neue"/>
              </a:rPr>
              <a:t>Steering Committee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D75ECEC4-3528-B986-3D82-2EB8683ED96F}"/>
              </a:ext>
            </a:extLst>
          </p:cNvPr>
          <p:cNvSpPr/>
          <p:nvPr/>
        </p:nvSpPr>
        <p:spPr>
          <a:xfrm>
            <a:off x="5646196" y="3967642"/>
            <a:ext cx="5022542" cy="7767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b="1" i="0" dirty="0" err="1">
                <a:solidFill>
                  <a:schemeClr val="bg1"/>
                </a:solidFill>
                <a:effectLst/>
                <a:latin typeface="Helvetica Neue"/>
              </a:rPr>
              <a:t>Secretariat</a:t>
            </a:r>
            <a:r>
              <a:rPr lang="de-AT" b="1" i="0" dirty="0">
                <a:solidFill>
                  <a:schemeClr val="bg1"/>
                </a:solidFill>
                <a:effectLst/>
                <a:latin typeface="Helvetica Neue"/>
              </a:rPr>
              <a:t> / </a:t>
            </a:r>
            <a:r>
              <a:rPr lang="de-AT" b="1" i="0" dirty="0" err="1">
                <a:solidFill>
                  <a:schemeClr val="bg1"/>
                </a:solidFill>
                <a:effectLst/>
                <a:latin typeface="Helvetica Neue"/>
              </a:rPr>
              <a:t>hosted</a:t>
            </a:r>
            <a:r>
              <a:rPr lang="de-AT" b="1" i="0" dirty="0">
                <a:solidFill>
                  <a:schemeClr val="bg1"/>
                </a:solidFill>
                <a:effectLst/>
                <a:latin typeface="Helvetica Neue"/>
              </a:rPr>
              <a:t> </a:t>
            </a:r>
            <a:r>
              <a:rPr lang="de-AT" b="1" i="0" dirty="0" err="1">
                <a:solidFill>
                  <a:schemeClr val="bg1"/>
                </a:solidFill>
                <a:effectLst/>
                <a:latin typeface="Helvetica Neue"/>
              </a:rPr>
              <a:t>by</a:t>
            </a:r>
            <a:r>
              <a:rPr lang="de-AT" b="1" i="0" dirty="0">
                <a:solidFill>
                  <a:schemeClr val="bg1"/>
                </a:solidFill>
                <a:effectLst/>
                <a:latin typeface="Helvetica Neue"/>
              </a:rPr>
              <a:t> </a:t>
            </a:r>
            <a:r>
              <a:rPr lang="de-AT" b="1" i="0" dirty="0" err="1">
                <a:solidFill>
                  <a:schemeClr val="bg1"/>
                </a:solidFill>
                <a:effectLst/>
                <a:latin typeface="Helvetica Neue"/>
              </a:rPr>
              <a:t>the</a:t>
            </a:r>
            <a:r>
              <a:rPr lang="de-AT" b="1" i="0" dirty="0">
                <a:solidFill>
                  <a:schemeClr val="bg1"/>
                </a:solidFill>
                <a:effectLst/>
                <a:latin typeface="Helvetica Neue"/>
              </a:rPr>
              <a:t> OECD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29795FF-509F-1CC7-DB7D-02E53464EFE3}"/>
              </a:ext>
            </a:extLst>
          </p:cNvPr>
          <p:cNvSpPr/>
          <p:nvPr/>
        </p:nvSpPr>
        <p:spPr>
          <a:xfrm>
            <a:off x="5646196" y="4928516"/>
            <a:ext cx="5022542" cy="9410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Helvetica Neue"/>
              </a:rPr>
              <a:t>Two </a:t>
            </a:r>
            <a:r>
              <a:rPr lang="en-US" b="1" dirty="0" err="1">
                <a:latin typeface="Helvetica Neue"/>
              </a:rPr>
              <a:t>Centres</a:t>
            </a:r>
            <a:r>
              <a:rPr lang="en-US" b="1" dirty="0">
                <a:latin typeface="Helvetica Neue"/>
              </a:rPr>
              <a:t> of Expertise (Montreal &amp; Paris)</a:t>
            </a:r>
            <a:endParaRPr lang="de-AT" b="1" dirty="0">
              <a:latin typeface="Helvetica Neue"/>
            </a:endParaRP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7D88EE27-CB52-2C34-DF7A-44748207EAC6}"/>
              </a:ext>
            </a:extLst>
          </p:cNvPr>
          <p:cNvCxnSpPr>
            <a:stCxn id="28" idx="3"/>
            <a:endCxn id="30" idx="1"/>
          </p:cNvCxnSpPr>
          <p:nvPr/>
        </p:nvCxnSpPr>
        <p:spPr>
          <a:xfrm flipV="1">
            <a:off x="4021882" y="2454101"/>
            <a:ext cx="1624314" cy="10361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8648270B-C615-83BF-44B4-823FD36E7344}"/>
              </a:ext>
            </a:extLst>
          </p:cNvPr>
          <p:cNvCxnSpPr>
            <a:stCxn id="28" idx="3"/>
            <a:endCxn id="4" idx="1"/>
          </p:cNvCxnSpPr>
          <p:nvPr/>
        </p:nvCxnSpPr>
        <p:spPr>
          <a:xfrm flipV="1">
            <a:off x="4021882" y="3385992"/>
            <a:ext cx="1624314" cy="1042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CDF37FAE-9CE5-0D71-8F43-595103D0C05B}"/>
              </a:ext>
            </a:extLst>
          </p:cNvPr>
          <p:cNvCxnSpPr>
            <a:stCxn id="28" idx="3"/>
            <a:endCxn id="6" idx="1"/>
          </p:cNvCxnSpPr>
          <p:nvPr/>
        </p:nvCxnSpPr>
        <p:spPr>
          <a:xfrm>
            <a:off x="4021882" y="3490216"/>
            <a:ext cx="1624314" cy="865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3513767A-9BD4-E14A-E437-027433BA0E38}"/>
              </a:ext>
            </a:extLst>
          </p:cNvPr>
          <p:cNvCxnSpPr>
            <a:stCxn id="28" idx="3"/>
            <a:endCxn id="7" idx="1"/>
          </p:cNvCxnSpPr>
          <p:nvPr/>
        </p:nvCxnSpPr>
        <p:spPr>
          <a:xfrm>
            <a:off x="4021882" y="3490216"/>
            <a:ext cx="1624314" cy="19088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feld 22">
            <a:extLst>
              <a:ext uri="{FF2B5EF4-FFF2-40B4-BE49-F238E27FC236}">
                <a16:creationId xmlns:a16="http://schemas.microsoft.com/office/drawing/2014/main" id="{22737D2A-DDDF-1BBB-B335-46AD7FC4E6D9}"/>
              </a:ext>
            </a:extLst>
          </p:cNvPr>
          <p:cNvSpPr txBox="1"/>
          <p:nvPr/>
        </p:nvSpPr>
        <p:spPr>
          <a:xfrm>
            <a:off x="55849" y="6574611"/>
            <a:ext cx="805753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1" i="0" dirty="0">
                <a:solidFill>
                  <a:schemeClr val="bg1"/>
                </a:solidFill>
                <a:effectLst/>
                <a:latin typeface="-apple-system"/>
              </a:rPr>
              <a:t>Quelle: GPAI – Global Partnership on Artificial Intelligence: </a:t>
            </a:r>
            <a:r>
              <a:rPr lang="en-US" sz="900" dirty="0">
                <a:solidFill>
                  <a:schemeClr val="bg1"/>
                </a:solidFill>
                <a:latin typeface="-apple-system"/>
              </a:rPr>
              <a:t>https://www.gpai.ai</a:t>
            </a:r>
            <a:endParaRPr lang="en-US" sz="900" b="0" i="0" dirty="0">
              <a:solidFill>
                <a:schemeClr val="bg1"/>
              </a:solidFill>
              <a:effectLst/>
              <a:latin typeface="-apple-system"/>
            </a:endParaRPr>
          </a:p>
        </p:txBody>
      </p:sp>
      <p:pic>
        <p:nvPicPr>
          <p:cNvPr id="10" name="Grafik 1">
            <a:extLst>
              <a:ext uri="{FF2B5EF4-FFF2-40B4-BE49-F238E27FC236}">
                <a16:creationId xmlns:a16="http://schemas.microsoft.com/office/drawing/2014/main" id="{A7C7DB04-F872-C2E4-10C0-7E7D3BCF1D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851" y="800374"/>
            <a:ext cx="8901448" cy="86224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043892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20">
            <a:extLst>
              <a:ext uri="{FF2B5EF4-FFF2-40B4-BE49-F238E27FC236}">
                <a16:creationId xmlns:a16="http://schemas.microsoft.com/office/drawing/2014/main" id="{2596F992-698C-48C0-9D89-70DA4CE92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344AAA5-41F4-4862-97EF-688D31DC7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85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9E1A62C-2AAF-4B3E-8CDB-65E2370809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2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B1D89DEE-FD9A-1245-D155-3F82F7283751}"/>
              </a:ext>
            </a:extLst>
          </p:cNvPr>
          <p:cNvSpPr txBox="1"/>
          <p:nvPr/>
        </p:nvSpPr>
        <p:spPr>
          <a:xfrm>
            <a:off x="93977" y="845910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AT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endParaRPr lang="de-AT" sz="2400" dirty="0"/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EBC87EA2-6A1C-7569-2CE3-12E8DBFE09F0}"/>
              </a:ext>
            </a:extLst>
          </p:cNvPr>
          <p:cNvSpPr txBox="1"/>
          <p:nvPr/>
        </p:nvSpPr>
        <p:spPr>
          <a:xfrm>
            <a:off x="255181" y="108639"/>
            <a:ext cx="11699578" cy="8002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endParaRPr lang="de-AT" sz="1800" b="1" dirty="0"/>
          </a:p>
          <a:p>
            <a:r>
              <a:rPr lang="de-AT" sz="2800" b="1" dirty="0"/>
              <a:t> 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2AE13A5C-D77C-F972-7A69-258C0A62F154}"/>
              </a:ext>
            </a:extLst>
          </p:cNvPr>
          <p:cNvSpPr txBox="1"/>
          <p:nvPr/>
        </p:nvSpPr>
        <p:spPr>
          <a:xfrm>
            <a:off x="1409803" y="6487750"/>
            <a:ext cx="102095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sz="1100" i="1" spc="1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endParaRPr lang="de-AT" sz="1100" dirty="0">
              <a:solidFill>
                <a:schemeClr val="bg1"/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D4ED5D7E-D48A-C7A6-E99A-87529482CA17}"/>
              </a:ext>
            </a:extLst>
          </p:cNvPr>
          <p:cNvSpPr/>
          <p:nvPr/>
        </p:nvSpPr>
        <p:spPr>
          <a:xfrm>
            <a:off x="491806" y="1646129"/>
            <a:ext cx="2940114" cy="6046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3600" dirty="0">
                <a:solidFill>
                  <a:schemeClr val="bg1"/>
                </a:solidFill>
              </a:rPr>
              <a:t>MEMBERSHIP</a:t>
            </a:r>
            <a:endParaRPr lang="de-AT" dirty="0">
              <a:solidFill>
                <a:schemeClr val="bg1"/>
              </a:solidFill>
            </a:endParaRP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09850C8C-07A0-59F1-09F3-AA8ACFF0E2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534" y="314107"/>
            <a:ext cx="2919386" cy="1318210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9A0AADB9-2790-4309-3CED-1084591D9E71}"/>
              </a:ext>
            </a:extLst>
          </p:cNvPr>
          <p:cNvSpPr txBox="1"/>
          <p:nvPr/>
        </p:nvSpPr>
        <p:spPr>
          <a:xfrm>
            <a:off x="15292" y="6503139"/>
            <a:ext cx="837615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1" i="0" dirty="0">
                <a:solidFill>
                  <a:schemeClr val="bg1"/>
                </a:solidFill>
                <a:effectLst/>
                <a:latin typeface="-apple-system"/>
              </a:rPr>
              <a:t>Quelle: GPAI – Global Partnership on Artificial Intelligence: </a:t>
            </a:r>
            <a:r>
              <a:rPr lang="en-US" sz="900" dirty="0">
                <a:solidFill>
                  <a:schemeClr val="bg1"/>
                </a:solidFill>
                <a:latin typeface="-apple-system"/>
              </a:rPr>
              <a:t>https://www.gpai.ai</a:t>
            </a:r>
            <a:endParaRPr lang="en-US" sz="900" b="0" i="0" dirty="0">
              <a:solidFill>
                <a:schemeClr val="bg1"/>
              </a:solidFill>
              <a:effectLst/>
              <a:latin typeface="-apple-system"/>
            </a:endParaRPr>
          </a:p>
        </p:txBody>
      </p:sp>
      <p:sp>
        <p:nvSpPr>
          <p:cNvPr id="18" name="Rechteck: gefaltete Ecke 17">
            <a:extLst>
              <a:ext uri="{FF2B5EF4-FFF2-40B4-BE49-F238E27FC236}">
                <a16:creationId xmlns:a16="http://schemas.microsoft.com/office/drawing/2014/main" id="{4FE9212A-FF05-EA15-3396-816D284A3D33}"/>
              </a:ext>
            </a:extLst>
          </p:cNvPr>
          <p:cNvSpPr/>
          <p:nvPr/>
        </p:nvSpPr>
        <p:spPr>
          <a:xfrm>
            <a:off x="753027" y="3634317"/>
            <a:ext cx="2438400" cy="1655069"/>
          </a:xfrm>
          <a:prstGeom prst="foldedCorne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open to all countries, including emerging and developing countries</a:t>
            </a:r>
            <a:endParaRPr lang="de-AT" dirty="0"/>
          </a:p>
        </p:txBody>
      </p:sp>
      <p:sp>
        <p:nvSpPr>
          <p:cNvPr id="19" name="Rechteck: gefaltete Ecke 18">
            <a:extLst>
              <a:ext uri="{FF2B5EF4-FFF2-40B4-BE49-F238E27FC236}">
                <a16:creationId xmlns:a16="http://schemas.microsoft.com/office/drawing/2014/main" id="{564F8A68-632B-23C2-E481-024627A123AE}"/>
              </a:ext>
            </a:extLst>
          </p:cNvPr>
          <p:cNvSpPr/>
          <p:nvPr/>
        </p:nvSpPr>
        <p:spPr>
          <a:xfrm>
            <a:off x="3620144" y="2762537"/>
            <a:ext cx="2399071" cy="1684566"/>
          </a:xfrm>
          <a:prstGeom prst="foldedCorne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letter of intent setting out reasons for seeking membership</a:t>
            </a:r>
            <a:endParaRPr lang="de-AT" dirty="0"/>
          </a:p>
        </p:txBody>
      </p:sp>
      <p:sp>
        <p:nvSpPr>
          <p:cNvPr id="20" name="Rechteck: gefaltete Ecke 19">
            <a:extLst>
              <a:ext uri="{FF2B5EF4-FFF2-40B4-BE49-F238E27FC236}">
                <a16:creationId xmlns:a16="http://schemas.microsoft.com/office/drawing/2014/main" id="{3B5A2D7E-710A-952C-FDA7-F9DF00A130F5}"/>
              </a:ext>
            </a:extLst>
          </p:cNvPr>
          <p:cNvSpPr/>
          <p:nvPr/>
        </p:nvSpPr>
        <p:spPr>
          <a:xfrm>
            <a:off x="6447932" y="3604820"/>
            <a:ext cx="2487562" cy="1684566"/>
          </a:xfrm>
          <a:prstGeom prst="foldedCorne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confirmation that the applicant endorses the shared values reflected in the OECD Recommendation on AI</a:t>
            </a:r>
            <a:endParaRPr lang="de-AT" dirty="0"/>
          </a:p>
        </p:txBody>
      </p:sp>
      <p:sp>
        <p:nvSpPr>
          <p:cNvPr id="21" name="Rechteck: gefaltete Ecke 20">
            <a:extLst>
              <a:ext uri="{FF2B5EF4-FFF2-40B4-BE49-F238E27FC236}">
                <a16:creationId xmlns:a16="http://schemas.microsoft.com/office/drawing/2014/main" id="{922DD3EB-3B77-2562-C842-2591B73F8391}"/>
              </a:ext>
            </a:extLst>
          </p:cNvPr>
          <p:cNvSpPr/>
          <p:nvPr/>
        </p:nvSpPr>
        <p:spPr>
          <a:xfrm>
            <a:off x="9364211" y="2757215"/>
            <a:ext cx="2564953" cy="1695210"/>
          </a:xfrm>
          <a:prstGeom prst="foldedCorne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err="1"/>
              <a:t>two-thirds</a:t>
            </a:r>
            <a:r>
              <a:rPr lang="de-AT" dirty="0"/>
              <a:t> </a:t>
            </a:r>
            <a:r>
              <a:rPr lang="de-AT" dirty="0" err="1"/>
              <a:t>majority</a:t>
            </a:r>
            <a:r>
              <a:rPr lang="de-AT" dirty="0"/>
              <a:t> vote </a:t>
            </a:r>
            <a:r>
              <a:rPr lang="de-AT" dirty="0" err="1"/>
              <a:t>by</a:t>
            </a:r>
            <a:r>
              <a:rPr lang="de-AT" dirty="0"/>
              <a:t> GPAI Council</a:t>
            </a:r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804A8CAA-8391-E3BA-E792-F153A81FEE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9597853" y="323562"/>
            <a:ext cx="2148858" cy="2089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6969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20">
            <a:extLst>
              <a:ext uri="{FF2B5EF4-FFF2-40B4-BE49-F238E27FC236}">
                <a16:creationId xmlns:a16="http://schemas.microsoft.com/office/drawing/2014/main" id="{2596F992-698C-48C0-9D89-70DA4CE92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344AAA5-41F4-4862-97EF-688D31DC7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85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9E1A62C-2AAF-4B3E-8CDB-65E2370809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2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B1D89DEE-FD9A-1245-D155-3F82F7283751}"/>
              </a:ext>
            </a:extLst>
          </p:cNvPr>
          <p:cNvSpPr txBox="1"/>
          <p:nvPr/>
        </p:nvSpPr>
        <p:spPr>
          <a:xfrm>
            <a:off x="93977" y="845910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AT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endParaRPr lang="de-AT" sz="2400" dirty="0"/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EBC87EA2-6A1C-7569-2CE3-12E8DBFE09F0}"/>
              </a:ext>
            </a:extLst>
          </p:cNvPr>
          <p:cNvSpPr txBox="1"/>
          <p:nvPr/>
        </p:nvSpPr>
        <p:spPr>
          <a:xfrm>
            <a:off x="255181" y="108639"/>
            <a:ext cx="11699578" cy="8002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endParaRPr lang="de-AT" sz="1800" b="1" dirty="0"/>
          </a:p>
          <a:p>
            <a:r>
              <a:rPr lang="de-AT" sz="2800" b="1" dirty="0"/>
              <a:t> 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2AE13A5C-D77C-F972-7A69-258C0A62F154}"/>
              </a:ext>
            </a:extLst>
          </p:cNvPr>
          <p:cNvSpPr txBox="1"/>
          <p:nvPr/>
        </p:nvSpPr>
        <p:spPr>
          <a:xfrm>
            <a:off x="1409803" y="6487750"/>
            <a:ext cx="102095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sz="1100" i="1" spc="15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</a:rPr>
              <a:t> </a:t>
            </a:r>
            <a:endParaRPr lang="de-AT" sz="1100" dirty="0">
              <a:solidFill>
                <a:schemeClr val="bg1"/>
              </a:solidFill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F063FE7-894F-2520-C36D-5FE7EB62F429}"/>
              </a:ext>
            </a:extLst>
          </p:cNvPr>
          <p:cNvSpPr txBox="1"/>
          <p:nvPr/>
        </p:nvSpPr>
        <p:spPr>
          <a:xfrm>
            <a:off x="1146002" y="3628981"/>
            <a:ext cx="457183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AT" sz="2400" dirty="0" err="1">
                <a:latin typeface="Adobe Devanagari" panose="02040503050201020203" pitchFamily="18" charset="0"/>
                <a:cs typeface="Adobe Devanagari" panose="02040503050201020203" pitchFamily="18" charset="0"/>
              </a:rPr>
              <a:t>shared</a:t>
            </a:r>
            <a:r>
              <a:rPr lang="de-AT" sz="2400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 </a:t>
            </a:r>
            <a:r>
              <a:rPr lang="de-AT" sz="2400" dirty="0" err="1">
                <a:latin typeface="Adobe Devanagari" panose="02040503050201020203" pitchFamily="18" charset="0"/>
                <a:cs typeface="Adobe Devanagari" panose="02040503050201020203" pitchFamily="18" charset="0"/>
              </a:rPr>
              <a:t>commitment</a:t>
            </a:r>
            <a:r>
              <a:rPr lang="de-AT" sz="2400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 </a:t>
            </a:r>
            <a:r>
              <a:rPr lang="de-AT" sz="2400" dirty="0" err="1">
                <a:latin typeface="Adobe Devanagari" panose="02040503050201020203" pitchFamily="18" charset="0"/>
                <a:cs typeface="Adobe Devanagari" panose="02040503050201020203" pitchFamily="18" charset="0"/>
              </a:rPr>
              <a:t>to</a:t>
            </a:r>
            <a:r>
              <a:rPr lang="de-AT" sz="2400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 </a:t>
            </a:r>
            <a:r>
              <a:rPr lang="de-AT" sz="2400" dirty="0" err="1">
                <a:latin typeface="Adobe Devanagari" panose="02040503050201020203" pitchFamily="18" charset="0"/>
                <a:cs typeface="Adobe Devanagari" panose="02040503050201020203" pitchFamily="18" charset="0"/>
              </a:rPr>
              <a:t>the</a:t>
            </a:r>
            <a:r>
              <a:rPr lang="de-AT" sz="2400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 </a:t>
            </a:r>
            <a:r>
              <a:rPr lang="de-AT" sz="2400" dirty="0" err="1">
                <a:latin typeface="Adobe Devanagari" panose="02040503050201020203" pitchFamily="18" charset="0"/>
                <a:cs typeface="Adobe Devanagari" panose="02040503050201020203" pitchFamily="18" charset="0"/>
              </a:rPr>
              <a:t>values</a:t>
            </a:r>
            <a:r>
              <a:rPr lang="de-AT" sz="2400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 </a:t>
            </a:r>
            <a:r>
              <a:rPr lang="de-AT" sz="2400" dirty="0" err="1">
                <a:latin typeface="Adobe Devanagari" panose="02040503050201020203" pitchFamily="18" charset="0"/>
                <a:cs typeface="Adobe Devanagari" panose="02040503050201020203" pitchFamily="18" charset="0"/>
              </a:rPr>
              <a:t>expressed</a:t>
            </a:r>
            <a:r>
              <a:rPr lang="de-AT" sz="2400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 in </a:t>
            </a:r>
            <a:r>
              <a:rPr lang="de-AT" sz="2400" dirty="0" err="1">
                <a:latin typeface="Adobe Devanagari" panose="02040503050201020203" pitchFamily="18" charset="0"/>
                <a:cs typeface="Adobe Devanagari" panose="02040503050201020203" pitchFamily="18" charset="0"/>
              </a:rPr>
              <a:t>the</a:t>
            </a:r>
            <a:r>
              <a:rPr lang="de-AT" sz="2400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 OECD </a:t>
            </a:r>
            <a:r>
              <a:rPr lang="de-AT" sz="2400" dirty="0" err="1">
                <a:latin typeface="Adobe Devanagari" panose="02040503050201020203" pitchFamily="18" charset="0"/>
                <a:cs typeface="Adobe Devanagari" panose="02040503050201020203" pitchFamily="18" charset="0"/>
              </a:rPr>
              <a:t>Recommendation</a:t>
            </a:r>
            <a:r>
              <a:rPr lang="de-AT" sz="2400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 on </a:t>
            </a:r>
            <a:r>
              <a:rPr lang="de-AT" sz="2400" dirty="0" err="1">
                <a:latin typeface="Adobe Devanagari" panose="02040503050201020203" pitchFamily="18" charset="0"/>
                <a:cs typeface="Adobe Devanagari" panose="02040503050201020203" pitchFamily="18" charset="0"/>
              </a:rPr>
              <a:t>Artificial</a:t>
            </a:r>
            <a:r>
              <a:rPr lang="de-AT" sz="2400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 </a:t>
            </a:r>
            <a:r>
              <a:rPr lang="de-AT" sz="2400" dirty="0" err="1">
                <a:latin typeface="Adobe Devanagari" panose="02040503050201020203" pitchFamily="18" charset="0"/>
                <a:cs typeface="Adobe Devanagari" panose="02040503050201020203" pitchFamily="18" charset="0"/>
              </a:rPr>
              <a:t>Intelligence</a:t>
            </a:r>
            <a:endParaRPr lang="de-AT" sz="2400" dirty="0">
              <a:latin typeface="Adobe Devanagari" panose="02040503050201020203" pitchFamily="18" charset="0"/>
              <a:cs typeface="Adobe Devanagari" panose="02040503050201020203" pitchFamily="18" charset="0"/>
            </a:endParaRPr>
          </a:p>
        </p:txBody>
      </p:sp>
      <p:sp>
        <p:nvSpPr>
          <p:cNvPr id="5" name="Rahmen 4">
            <a:extLst>
              <a:ext uri="{FF2B5EF4-FFF2-40B4-BE49-F238E27FC236}">
                <a16:creationId xmlns:a16="http://schemas.microsoft.com/office/drawing/2014/main" id="{75E92023-724C-995B-919C-4717D87A9B19}"/>
              </a:ext>
            </a:extLst>
          </p:cNvPr>
          <p:cNvSpPr/>
          <p:nvPr/>
        </p:nvSpPr>
        <p:spPr>
          <a:xfrm>
            <a:off x="767844" y="3085325"/>
            <a:ext cx="5328155" cy="2654719"/>
          </a:xfrm>
          <a:prstGeom prst="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>
              <a:solidFill>
                <a:schemeClr val="tx1"/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D4ED5D7E-D48A-C7A6-E99A-87529482CA17}"/>
              </a:ext>
            </a:extLst>
          </p:cNvPr>
          <p:cNvSpPr/>
          <p:nvPr/>
        </p:nvSpPr>
        <p:spPr>
          <a:xfrm>
            <a:off x="4859965" y="1507456"/>
            <a:ext cx="2821858" cy="11286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4000" dirty="0">
                <a:solidFill>
                  <a:schemeClr val="bg1"/>
                </a:solidFill>
              </a:rPr>
              <a:t>VALUES</a:t>
            </a:r>
            <a:endParaRPr lang="de-AT" dirty="0">
              <a:solidFill>
                <a:schemeClr val="bg1"/>
              </a:solidFill>
            </a:endParaRPr>
          </a:p>
        </p:txBody>
      </p:sp>
      <p:sp>
        <p:nvSpPr>
          <p:cNvPr id="7" name="Rahmen 6">
            <a:extLst>
              <a:ext uri="{FF2B5EF4-FFF2-40B4-BE49-F238E27FC236}">
                <a16:creationId xmlns:a16="http://schemas.microsoft.com/office/drawing/2014/main" id="{3A52257A-5F32-F265-C57B-BEDEE3BC4A07}"/>
              </a:ext>
            </a:extLst>
          </p:cNvPr>
          <p:cNvSpPr/>
          <p:nvPr/>
        </p:nvSpPr>
        <p:spPr>
          <a:xfrm>
            <a:off x="6514563" y="3103936"/>
            <a:ext cx="5143665" cy="2636109"/>
          </a:xfrm>
          <a:prstGeom prst="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>
              <a:solidFill>
                <a:schemeClr val="tx1"/>
              </a:solidFill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7B83B3D8-F933-0E7F-F802-009F0960AAD5}"/>
              </a:ext>
            </a:extLst>
          </p:cNvPr>
          <p:cNvSpPr txBox="1"/>
          <p:nvPr/>
        </p:nvSpPr>
        <p:spPr>
          <a:xfrm>
            <a:off x="6863839" y="3429000"/>
            <a:ext cx="4462045" cy="1994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AT" sz="2400" dirty="0" err="1">
                <a:latin typeface="Adobe Devanagari" panose="02040503050201020203" pitchFamily="18" charset="0"/>
                <a:cs typeface="Adobe Devanagari" panose="02040503050201020203" pitchFamily="18" charset="0"/>
              </a:rPr>
              <a:t>to</a:t>
            </a:r>
            <a:r>
              <a:rPr lang="de-AT" sz="2400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 </a:t>
            </a:r>
            <a:r>
              <a:rPr lang="de-AT" sz="2400" dirty="0" err="1">
                <a:latin typeface="Adobe Devanagari" panose="02040503050201020203" pitchFamily="18" charset="0"/>
                <a:cs typeface="Adobe Devanagari" panose="02040503050201020203" pitchFamily="18" charset="0"/>
              </a:rPr>
              <a:t>foster</a:t>
            </a:r>
            <a:r>
              <a:rPr lang="de-AT" sz="2400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 </a:t>
            </a:r>
            <a:r>
              <a:rPr lang="de-AT" sz="2400" dirty="0" err="1">
                <a:latin typeface="Adobe Devanagari" panose="02040503050201020203" pitchFamily="18" charset="0"/>
                <a:cs typeface="Adobe Devanagari" panose="02040503050201020203" pitchFamily="18" charset="0"/>
              </a:rPr>
              <a:t>responsible</a:t>
            </a:r>
            <a:r>
              <a:rPr lang="de-AT" sz="2400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 </a:t>
            </a:r>
            <a:r>
              <a:rPr lang="de-AT" sz="2400" dirty="0" err="1">
                <a:latin typeface="Adobe Devanagari" panose="02040503050201020203" pitchFamily="18" charset="0"/>
                <a:cs typeface="Adobe Devanagari" panose="02040503050201020203" pitchFamily="18" charset="0"/>
              </a:rPr>
              <a:t>development</a:t>
            </a:r>
            <a:r>
              <a:rPr lang="de-AT" sz="2400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 </a:t>
            </a:r>
            <a:r>
              <a:rPr lang="de-AT" sz="2400" dirty="0" err="1">
                <a:latin typeface="Adobe Devanagari" panose="02040503050201020203" pitchFamily="18" charset="0"/>
                <a:cs typeface="Adobe Devanagari" panose="02040503050201020203" pitchFamily="18" charset="0"/>
              </a:rPr>
              <a:t>of</a:t>
            </a:r>
            <a:r>
              <a:rPr lang="de-AT" sz="2400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 AI </a:t>
            </a:r>
            <a:r>
              <a:rPr lang="de-AT" sz="2400" dirty="0" err="1">
                <a:latin typeface="Adobe Devanagari" panose="02040503050201020203" pitchFamily="18" charset="0"/>
                <a:cs typeface="Adobe Devanagari" panose="02040503050201020203" pitchFamily="18" charset="0"/>
              </a:rPr>
              <a:t>grounded</a:t>
            </a:r>
            <a:r>
              <a:rPr lang="de-AT" sz="2400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 in </a:t>
            </a:r>
            <a:r>
              <a:rPr lang="de-AT" sz="2400" dirty="0" err="1">
                <a:latin typeface="Adobe Devanagari" panose="02040503050201020203" pitchFamily="18" charset="0"/>
                <a:cs typeface="Adobe Devanagari" panose="02040503050201020203" pitchFamily="18" charset="0"/>
              </a:rPr>
              <a:t>these</a:t>
            </a:r>
            <a:r>
              <a:rPr lang="de-AT" sz="2400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 </a:t>
            </a:r>
            <a:r>
              <a:rPr lang="de-AT" sz="2400" dirty="0" err="1">
                <a:latin typeface="Adobe Devanagari" panose="02040503050201020203" pitchFamily="18" charset="0"/>
                <a:cs typeface="Adobe Devanagari" panose="02040503050201020203" pitchFamily="18" charset="0"/>
              </a:rPr>
              <a:t>principles</a:t>
            </a:r>
            <a:r>
              <a:rPr lang="de-AT" sz="2400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 </a:t>
            </a:r>
            <a:r>
              <a:rPr lang="de-AT" sz="2400" dirty="0" err="1">
                <a:latin typeface="Adobe Devanagari" panose="02040503050201020203" pitchFamily="18" charset="0"/>
                <a:cs typeface="Adobe Devanagari" panose="02040503050201020203" pitchFamily="18" charset="0"/>
              </a:rPr>
              <a:t>of</a:t>
            </a:r>
            <a:r>
              <a:rPr lang="de-AT" sz="2400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 human </a:t>
            </a:r>
            <a:r>
              <a:rPr lang="de-AT" sz="2400" dirty="0" err="1">
                <a:latin typeface="Adobe Devanagari" panose="02040503050201020203" pitchFamily="18" charset="0"/>
                <a:cs typeface="Adobe Devanagari" panose="02040503050201020203" pitchFamily="18" charset="0"/>
              </a:rPr>
              <a:t>rights</a:t>
            </a:r>
            <a:r>
              <a:rPr lang="de-AT" sz="2400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, </a:t>
            </a:r>
            <a:r>
              <a:rPr lang="de-AT" sz="2400" dirty="0" err="1">
                <a:latin typeface="Adobe Devanagari" panose="02040503050201020203" pitchFamily="18" charset="0"/>
                <a:cs typeface="Adobe Devanagari" panose="02040503050201020203" pitchFamily="18" charset="0"/>
              </a:rPr>
              <a:t>inclusion</a:t>
            </a:r>
            <a:r>
              <a:rPr lang="de-AT" sz="2400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, </a:t>
            </a:r>
            <a:r>
              <a:rPr lang="de-AT" sz="2400" dirty="0" err="1">
                <a:latin typeface="Adobe Devanagari" panose="02040503050201020203" pitchFamily="18" charset="0"/>
                <a:cs typeface="Adobe Devanagari" panose="02040503050201020203" pitchFamily="18" charset="0"/>
              </a:rPr>
              <a:t>diversity</a:t>
            </a:r>
            <a:r>
              <a:rPr lang="de-AT" sz="2400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, </a:t>
            </a:r>
            <a:r>
              <a:rPr lang="de-AT" sz="2400" dirty="0" err="1">
                <a:latin typeface="Adobe Devanagari" panose="02040503050201020203" pitchFamily="18" charset="0"/>
                <a:cs typeface="Adobe Devanagari" panose="02040503050201020203" pitchFamily="18" charset="0"/>
              </a:rPr>
              <a:t>innovation</a:t>
            </a:r>
            <a:r>
              <a:rPr lang="de-AT" sz="2400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 and </a:t>
            </a:r>
            <a:r>
              <a:rPr lang="de-AT" sz="2400" dirty="0" err="1">
                <a:latin typeface="Adobe Devanagari" panose="02040503050201020203" pitchFamily="18" charset="0"/>
                <a:cs typeface="Adobe Devanagari" panose="02040503050201020203" pitchFamily="18" charset="0"/>
              </a:rPr>
              <a:t>economic</a:t>
            </a:r>
            <a:r>
              <a:rPr lang="de-AT" sz="2400" dirty="0">
                <a:latin typeface="Adobe Devanagari" panose="02040503050201020203" pitchFamily="18" charset="0"/>
                <a:cs typeface="Adobe Devanagari" panose="02040503050201020203" pitchFamily="18" charset="0"/>
              </a:rPr>
              <a:t> </a:t>
            </a:r>
            <a:r>
              <a:rPr lang="de-AT" sz="2400" dirty="0" err="1">
                <a:latin typeface="Adobe Devanagari" panose="02040503050201020203" pitchFamily="18" charset="0"/>
                <a:cs typeface="Adobe Devanagari" panose="02040503050201020203" pitchFamily="18" charset="0"/>
              </a:rPr>
              <a:t>growth</a:t>
            </a:r>
            <a:endParaRPr lang="de-AT" sz="2400" dirty="0">
              <a:latin typeface="Adobe Devanagari" panose="02040503050201020203" pitchFamily="18" charset="0"/>
              <a:cs typeface="Adobe Devanagari" panose="02040503050201020203" pitchFamily="18" charset="0"/>
            </a:endParaRP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09850C8C-07A0-59F1-09F3-AA8ACFF0E2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534" y="314107"/>
            <a:ext cx="2919386" cy="1318210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9A0AADB9-2790-4309-3CED-1084591D9E71}"/>
              </a:ext>
            </a:extLst>
          </p:cNvPr>
          <p:cNvSpPr txBox="1"/>
          <p:nvPr/>
        </p:nvSpPr>
        <p:spPr>
          <a:xfrm>
            <a:off x="15292" y="6503139"/>
            <a:ext cx="837615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1" i="0" dirty="0">
                <a:solidFill>
                  <a:schemeClr val="bg1"/>
                </a:solidFill>
                <a:effectLst/>
                <a:latin typeface="-apple-system"/>
              </a:rPr>
              <a:t>Quelle: GPAI – Global Partnership on Artificial Intelligence: </a:t>
            </a:r>
            <a:r>
              <a:rPr lang="en-US" sz="900" dirty="0">
                <a:solidFill>
                  <a:schemeClr val="bg1"/>
                </a:solidFill>
                <a:latin typeface="-apple-system"/>
              </a:rPr>
              <a:t>https://www.gpai.ai</a:t>
            </a:r>
            <a:endParaRPr lang="en-US" sz="900" b="0" i="0" dirty="0">
              <a:solidFill>
                <a:schemeClr val="bg1"/>
              </a:solidFill>
              <a:effectLst/>
              <a:latin typeface="-apple-system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6F345580-C88E-FB05-615D-60766BAABF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7853" y="2946804"/>
            <a:ext cx="1948134" cy="604922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73A485A0-CD00-9D59-EEC1-37424086E9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184858">
            <a:off x="7913445" y="670519"/>
            <a:ext cx="3530180" cy="1884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7371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224AA2A-4BDA-B82F-CD0C-08D0325FD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02910"/>
            <a:ext cx="9582924" cy="1125297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FFFFFF"/>
                </a:solidFill>
                <a:latin typeface="Bahnschrift SemiBold SemiConden" panose="020B0502040204020203" pitchFamily="34" charset="0"/>
              </a:rPr>
              <a:t>Principles for responsible stewardship of trustworthy AI</a:t>
            </a:r>
            <a:endParaRPr lang="de-AT" sz="4000" dirty="0">
              <a:solidFill>
                <a:srgbClr val="FFFFFF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7" name="Rahmen 6">
            <a:extLst>
              <a:ext uri="{FF2B5EF4-FFF2-40B4-BE49-F238E27FC236}">
                <a16:creationId xmlns:a16="http://schemas.microsoft.com/office/drawing/2014/main" id="{C27D6D5F-4720-26E6-072A-EF84C3CA60D7}"/>
              </a:ext>
            </a:extLst>
          </p:cNvPr>
          <p:cNvSpPr/>
          <p:nvPr/>
        </p:nvSpPr>
        <p:spPr>
          <a:xfrm>
            <a:off x="366645" y="4289436"/>
            <a:ext cx="5572038" cy="716630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>
              <a:solidFill>
                <a:schemeClr val="tx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C6D99383-B75B-3ACB-7005-C51DCF9AA3BE}"/>
              </a:ext>
            </a:extLst>
          </p:cNvPr>
          <p:cNvSpPr txBox="1"/>
          <p:nvPr/>
        </p:nvSpPr>
        <p:spPr>
          <a:xfrm>
            <a:off x="265471" y="1793651"/>
            <a:ext cx="96375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0" i="0" dirty="0">
                <a:solidFill>
                  <a:srgbClr val="333333"/>
                </a:solidFill>
                <a:effectLst/>
                <a:latin typeface="Helvetica Neue"/>
              </a:rPr>
              <a:t>Inclusive growth, sustainable development and well-being</a:t>
            </a:r>
          </a:p>
          <a:p>
            <a:pPr marL="0" indent="0" algn="ctr">
              <a:buNone/>
            </a:pPr>
            <a:r>
              <a:rPr lang="de-AT" sz="2800" dirty="0">
                <a:latin typeface="Bahnschrift SemiBold SemiConden" panose="020B0502040204020203" pitchFamily="34" charset="0"/>
              </a:rPr>
              <a:t> </a:t>
            </a:r>
          </a:p>
        </p:txBody>
      </p:sp>
      <p:sp>
        <p:nvSpPr>
          <p:cNvPr id="19" name="Rahmen 18">
            <a:extLst>
              <a:ext uri="{FF2B5EF4-FFF2-40B4-BE49-F238E27FC236}">
                <a16:creationId xmlns:a16="http://schemas.microsoft.com/office/drawing/2014/main" id="{CAD3A2CA-AA76-01C2-529C-799DFD626343}"/>
              </a:ext>
            </a:extLst>
          </p:cNvPr>
          <p:cNvSpPr/>
          <p:nvPr/>
        </p:nvSpPr>
        <p:spPr>
          <a:xfrm>
            <a:off x="366645" y="5113357"/>
            <a:ext cx="2702511" cy="658355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>
              <a:solidFill>
                <a:schemeClr val="tx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23" name="Rahmen 22">
            <a:extLst>
              <a:ext uri="{FF2B5EF4-FFF2-40B4-BE49-F238E27FC236}">
                <a16:creationId xmlns:a16="http://schemas.microsoft.com/office/drawing/2014/main" id="{6DD49117-98A1-A474-3932-6675B1C2EF73}"/>
              </a:ext>
            </a:extLst>
          </p:cNvPr>
          <p:cNvSpPr/>
          <p:nvPr/>
        </p:nvSpPr>
        <p:spPr>
          <a:xfrm>
            <a:off x="366645" y="3508070"/>
            <a:ext cx="5572038" cy="692220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>
              <a:solidFill>
                <a:schemeClr val="tx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25" name="Rahmen 24">
            <a:extLst>
              <a:ext uri="{FF2B5EF4-FFF2-40B4-BE49-F238E27FC236}">
                <a16:creationId xmlns:a16="http://schemas.microsoft.com/office/drawing/2014/main" id="{6484C2BE-6FEB-5C74-AC35-1F625ABC5C78}"/>
              </a:ext>
            </a:extLst>
          </p:cNvPr>
          <p:cNvSpPr/>
          <p:nvPr/>
        </p:nvSpPr>
        <p:spPr>
          <a:xfrm>
            <a:off x="366645" y="2563446"/>
            <a:ext cx="6285158" cy="795994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>
              <a:solidFill>
                <a:schemeClr val="tx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27" name="Rahmen 26">
            <a:extLst>
              <a:ext uri="{FF2B5EF4-FFF2-40B4-BE49-F238E27FC236}">
                <a16:creationId xmlns:a16="http://schemas.microsoft.com/office/drawing/2014/main" id="{085FD121-36F9-46DF-5377-084DF822193D}"/>
              </a:ext>
            </a:extLst>
          </p:cNvPr>
          <p:cNvSpPr/>
          <p:nvPr/>
        </p:nvSpPr>
        <p:spPr>
          <a:xfrm>
            <a:off x="366645" y="1667960"/>
            <a:ext cx="9904373" cy="798459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>
              <a:solidFill>
                <a:schemeClr val="tx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AF17D13E-4F6F-91B5-B943-EA995AB6F7FA}"/>
              </a:ext>
            </a:extLst>
          </p:cNvPr>
          <p:cNvSpPr txBox="1"/>
          <p:nvPr/>
        </p:nvSpPr>
        <p:spPr>
          <a:xfrm>
            <a:off x="366645" y="4101282"/>
            <a:ext cx="53888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de-AT" sz="1800" dirty="0">
                <a:latin typeface="Bahnschrift SemiBold SemiConden" panose="020B0502040204020203" pitchFamily="34" charset="0"/>
              </a:rPr>
              <a:t> </a:t>
            </a:r>
          </a:p>
          <a:p>
            <a:pPr algn="ctr"/>
            <a:r>
              <a:rPr lang="de-AT" sz="2800" b="0" i="0" dirty="0" err="1">
                <a:solidFill>
                  <a:srgbClr val="333333"/>
                </a:solidFill>
                <a:effectLst/>
                <a:latin typeface="Helvetica Neue"/>
              </a:rPr>
              <a:t>Robustness</a:t>
            </a:r>
            <a:r>
              <a:rPr lang="de-AT" sz="2800" b="0" i="0" dirty="0">
                <a:solidFill>
                  <a:srgbClr val="333333"/>
                </a:solidFill>
                <a:effectLst/>
                <a:latin typeface="Helvetica Neue"/>
              </a:rPr>
              <a:t>, </a:t>
            </a:r>
            <a:r>
              <a:rPr lang="de-AT" sz="2800" b="0" i="0" dirty="0" err="1">
                <a:solidFill>
                  <a:srgbClr val="333333"/>
                </a:solidFill>
                <a:effectLst/>
                <a:latin typeface="Helvetica Neue"/>
              </a:rPr>
              <a:t>security</a:t>
            </a:r>
            <a:r>
              <a:rPr lang="de-AT" sz="2800" b="0" i="0" dirty="0">
                <a:solidFill>
                  <a:srgbClr val="333333"/>
                </a:solidFill>
                <a:effectLst/>
                <a:latin typeface="Helvetica Neue"/>
              </a:rPr>
              <a:t> and </a:t>
            </a:r>
            <a:r>
              <a:rPr lang="de-AT" sz="2800" b="0" i="0" dirty="0" err="1">
                <a:solidFill>
                  <a:srgbClr val="333333"/>
                </a:solidFill>
                <a:effectLst/>
                <a:latin typeface="Helvetica Neue"/>
              </a:rPr>
              <a:t>safety</a:t>
            </a:r>
            <a:endParaRPr lang="de-AT" sz="2800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0" indent="0" algn="ctr">
              <a:buNone/>
            </a:pPr>
            <a:endParaRPr lang="de-AT" sz="1800" dirty="0">
              <a:latin typeface="Bahnschrift SemiBold SemiConden" panose="020B0502040204020203" pitchFamily="34" charset="0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BDA2005-AC91-2CCA-A3B3-6F490C908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23984"/>
            <a:ext cx="2656428" cy="397491"/>
          </a:xfrm>
        </p:spPr>
        <p:txBody>
          <a:bodyPr/>
          <a:lstStyle/>
          <a:p>
            <a:fld id="{8D9F8BDF-0308-42D0-BC20-19EDCB70EC27}" type="slidenum">
              <a:rPr lang="de-AT" smtClean="0">
                <a:latin typeface="Bahnschrift SemiBold SemiConden" panose="020B0502040204020203" pitchFamily="34" charset="0"/>
              </a:rPr>
              <a:t>19</a:t>
            </a:fld>
            <a:endParaRPr lang="de-AT">
              <a:latin typeface="Bahnschrift SemiBold SemiConden" panose="020B0502040204020203" pitchFamily="34" charset="0"/>
            </a:endParaRP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9E50C8C3-0377-CDA1-59C7-71FFE6D102B0}"/>
              </a:ext>
            </a:extLst>
          </p:cNvPr>
          <p:cNvSpPr txBox="1"/>
          <p:nvPr/>
        </p:nvSpPr>
        <p:spPr>
          <a:xfrm>
            <a:off x="459350" y="3557428"/>
            <a:ext cx="53759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de-AT" sz="2800" b="0" i="0" dirty="0">
                <a:solidFill>
                  <a:srgbClr val="333333"/>
                </a:solidFill>
                <a:effectLst/>
                <a:latin typeface="Helvetica Neue"/>
              </a:rPr>
              <a:t>Transparency and </a:t>
            </a:r>
            <a:r>
              <a:rPr lang="de-AT" sz="2800" b="0" i="0" dirty="0" err="1">
                <a:solidFill>
                  <a:srgbClr val="333333"/>
                </a:solidFill>
                <a:effectLst/>
                <a:latin typeface="Helvetica Neue"/>
              </a:rPr>
              <a:t>explainability</a:t>
            </a:r>
            <a:endParaRPr lang="de-AT" sz="2800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3E64EE98-568A-4CC7-205C-34DEDD9D8ED7}"/>
              </a:ext>
            </a:extLst>
          </p:cNvPr>
          <p:cNvSpPr txBox="1"/>
          <p:nvPr/>
        </p:nvSpPr>
        <p:spPr>
          <a:xfrm>
            <a:off x="459350" y="2691411"/>
            <a:ext cx="61420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de-AT" sz="2800" b="0" i="0" dirty="0">
                <a:solidFill>
                  <a:srgbClr val="333333"/>
                </a:solidFill>
                <a:effectLst/>
                <a:latin typeface="Helvetica Neue"/>
              </a:rPr>
              <a:t>Human-</a:t>
            </a:r>
            <a:r>
              <a:rPr lang="de-AT" sz="2800" b="0" i="0" dirty="0" err="1">
                <a:solidFill>
                  <a:srgbClr val="333333"/>
                </a:solidFill>
                <a:effectLst/>
                <a:latin typeface="Helvetica Neue"/>
              </a:rPr>
              <a:t>centred</a:t>
            </a:r>
            <a:r>
              <a:rPr lang="de-AT" sz="2800" b="0" i="0" dirty="0">
                <a:solidFill>
                  <a:srgbClr val="333333"/>
                </a:solidFill>
                <a:effectLst/>
                <a:latin typeface="Helvetica Neue"/>
              </a:rPr>
              <a:t> </a:t>
            </a:r>
            <a:r>
              <a:rPr lang="de-AT" sz="2800" b="0" i="0" dirty="0" err="1">
                <a:solidFill>
                  <a:srgbClr val="333333"/>
                </a:solidFill>
                <a:effectLst/>
                <a:latin typeface="Helvetica Neue"/>
              </a:rPr>
              <a:t>values</a:t>
            </a:r>
            <a:r>
              <a:rPr lang="de-AT" sz="2800" b="0" i="0" dirty="0">
                <a:solidFill>
                  <a:srgbClr val="333333"/>
                </a:solidFill>
                <a:effectLst/>
                <a:latin typeface="Helvetica Neue"/>
              </a:rPr>
              <a:t> and </a:t>
            </a:r>
            <a:r>
              <a:rPr lang="de-AT" sz="2800" b="0" i="0" dirty="0" err="1">
                <a:solidFill>
                  <a:srgbClr val="333333"/>
                </a:solidFill>
                <a:effectLst/>
                <a:latin typeface="Helvetica Neue"/>
              </a:rPr>
              <a:t>fairness</a:t>
            </a:r>
            <a:endParaRPr lang="de-AT" sz="2800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A778DF21-6DB9-CD63-6B30-1AC8681F2DDB}"/>
              </a:ext>
            </a:extLst>
          </p:cNvPr>
          <p:cNvSpPr txBox="1"/>
          <p:nvPr/>
        </p:nvSpPr>
        <p:spPr>
          <a:xfrm>
            <a:off x="459350" y="5190040"/>
            <a:ext cx="28730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de-AT" sz="2800" b="0" i="0" dirty="0" err="1">
                <a:solidFill>
                  <a:srgbClr val="333333"/>
                </a:solidFill>
                <a:effectLst/>
                <a:latin typeface="Helvetica Neue"/>
              </a:rPr>
              <a:t>Accountability</a:t>
            </a:r>
            <a:endParaRPr lang="de-AT" sz="2800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C648A227-8F0A-1025-1354-D55C2E6FE0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793" y="941613"/>
            <a:ext cx="1317852" cy="724082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EB3B3E10-3181-91C5-751B-8CF7445AFD01}"/>
              </a:ext>
            </a:extLst>
          </p:cNvPr>
          <p:cNvSpPr txBox="1"/>
          <p:nvPr/>
        </p:nvSpPr>
        <p:spPr>
          <a:xfrm>
            <a:off x="265471" y="6632457"/>
            <a:ext cx="858124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1" i="0" dirty="0">
                <a:effectLst/>
                <a:latin typeface="-apple-system"/>
              </a:rPr>
              <a:t>Quelle: GPAI – Global Partnership on Artificial Intelligence: </a:t>
            </a:r>
            <a:r>
              <a:rPr lang="en-US" sz="900" dirty="0">
                <a:latin typeface="-apple-system"/>
              </a:rPr>
              <a:t>https://www.gpai.ai</a:t>
            </a:r>
            <a:endParaRPr lang="en-US" sz="900" b="0" i="0" dirty="0">
              <a:effectLst/>
              <a:latin typeface="-apple-system"/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BCEE42FF-1EF8-2101-1F1A-5D0119C36A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8763" y="2583421"/>
            <a:ext cx="3276317" cy="2727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1884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224AA2A-4BDA-B82F-CD0C-08D0325FD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02910"/>
            <a:ext cx="9582924" cy="1125297"/>
          </a:xfrm>
        </p:spPr>
        <p:txBody>
          <a:bodyPr>
            <a:normAutofit/>
          </a:bodyPr>
          <a:lstStyle/>
          <a:p>
            <a:pPr algn="l"/>
            <a:r>
              <a:rPr lang="en-US" sz="3600" b="0" i="0" dirty="0">
                <a:solidFill>
                  <a:schemeClr val="bg1"/>
                </a:solidFill>
                <a:effectLst/>
                <a:latin typeface="Bahnschrift SemiBold SemiConden" panose="020B0502040204020203" pitchFamily="34" charset="0"/>
              </a:rPr>
              <a:t>National policies and international cooperation for trustworthy AI</a:t>
            </a:r>
          </a:p>
        </p:txBody>
      </p:sp>
      <p:sp>
        <p:nvSpPr>
          <p:cNvPr id="7" name="Rahmen 6">
            <a:extLst>
              <a:ext uri="{FF2B5EF4-FFF2-40B4-BE49-F238E27FC236}">
                <a16:creationId xmlns:a16="http://schemas.microsoft.com/office/drawing/2014/main" id="{C27D6D5F-4720-26E6-072A-EF84C3CA60D7}"/>
              </a:ext>
            </a:extLst>
          </p:cNvPr>
          <p:cNvSpPr/>
          <p:nvPr/>
        </p:nvSpPr>
        <p:spPr>
          <a:xfrm>
            <a:off x="373711" y="5244542"/>
            <a:ext cx="11732646" cy="737830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>
              <a:solidFill>
                <a:schemeClr val="tx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C6D99383-B75B-3ACB-7005-C51DCF9AA3BE}"/>
              </a:ext>
            </a:extLst>
          </p:cNvPr>
          <p:cNvSpPr txBox="1"/>
          <p:nvPr/>
        </p:nvSpPr>
        <p:spPr>
          <a:xfrm>
            <a:off x="366644" y="1819349"/>
            <a:ext cx="96375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b="0" i="0" dirty="0">
                <a:solidFill>
                  <a:srgbClr val="333333"/>
                </a:solidFill>
                <a:effectLst/>
                <a:latin typeface="Helvetica Neue"/>
              </a:rPr>
              <a:t> </a:t>
            </a:r>
            <a:r>
              <a:rPr lang="en-US" sz="2800" dirty="0">
                <a:solidFill>
                  <a:srgbClr val="333333"/>
                </a:solidFill>
                <a:latin typeface="Helvetica Neue"/>
              </a:rPr>
              <a:t> </a:t>
            </a:r>
            <a:r>
              <a:rPr lang="en-US" sz="2800" b="0" i="0" dirty="0">
                <a:solidFill>
                  <a:srgbClr val="333333"/>
                </a:solidFill>
                <a:effectLst/>
                <a:latin typeface="Helvetica Neue"/>
              </a:rPr>
              <a:t>Investing in AI research and development</a:t>
            </a:r>
          </a:p>
          <a:p>
            <a:pPr marL="0" indent="0" algn="ctr">
              <a:buNone/>
            </a:pPr>
            <a:r>
              <a:rPr lang="de-AT" sz="2800" dirty="0">
                <a:latin typeface="Bahnschrift SemiBold SemiConden" panose="020B0502040204020203" pitchFamily="34" charset="0"/>
              </a:rPr>
              <a:t> </a:t>
            </a:r>
          </a:p>
        </p:txBody>
      </p:sp>
      <p:sp>
        <p:nvSpPr>
          <p:cNvPr id="19" name="Rahmen 18">
            <a:extLst>
              <a:ext uri="{FF2B5EF4-FFF2-40B4-BE49-F238E27FC236}">
                <a16:creationId xmlns:a16="http://schemas.microsoft.com/office/drawing/2014/main" id="{CAD3A2CA-AA76-01C2-529C-799DFD626343}"/>
              </a:ext>
            </a:extLst>
          </p:cNvPr>
          <p:cNvSpPr/>
          <p:nvPr/>
        </p:nvSpPr>
        <p:spPr>
          <a:xfrm>
            <a:off x="366644" y="4412678"/>
            <a:ext cx="7216792" cy="729404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>
              <a:solidFill>
                <a:schemeClr val="tx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23" name="Rahmen 22">
            <a:extLst>
              <a:ext uri="{FF2B5EF4-FFF2-40B4-BE49-F238E27FC236}">
                <a16:creationId xmlns:a16="http://schemas.microsoft.com/office/drawing/2014/main" id="{6DD49117-98A1-A474-3932-6675B1C2EF73}"/>
              </a:ext>
            </a:extLst>
          </p:cNvPr>
          <p:cNvSpPr/>
          <p:nvPr/>
        </p:nvSpPr>
        <p:spPr>
          <a:xfrm>
            <a:off x="366644" y="3408958"/>
            <a:ext cx="7951445" cy="845874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>
              <a:solidFill>
                <a:schemeClr val="tx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25" name="Rahmen 24">
            <a:extLst>
              <a:ext uri="{FF2B5EF4-FFF2-40B4-BE49-F238E27FC236}">
                <a16:creationId xmlns:a16="http://schemas.microsoft.com/office/drawing/2014/main" id="{6484C2BE-6FEB-5C74-AC35-1F625ABC5C78}"/>
              </a:ext>
            </a:extLst>
          </p:cNvPr>
          <p:cNvSpPr/>
          <p:nvPr/>
        </p:nvSpPr>
        <p:spPr>
          <a:xfrm>
            <a:off x="373711" y="2537756"/>
            <a:ext cx="6285158" cy="749200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>
              <a:solidFill>
                <a:schemeClr val="tx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27" name="Rahmen 26">
            <a:extLst>
              <a:ext uri="{FF2B5EF4-FFF2-40B4-BE49-F238E27FC236}">
                <a16:creationId xmlns:a16="http://schemas.microsoft.com/office/drawing/2014/main" id="{085FD121-36F9-46DF-5377-084DF822193D}"/>
              </a:ext>
            </a:extLst>
          </p:cNvPr>
          <p:cNvSpPr/>
          <p:nvPr/>
        </p:nvSpPr>
        <p:spPr>
          <a:xfrm>
            <a:off x="386218" y="1750454"/>
            <a:ext cx="9904373" cy="698875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>
              <a:solidFill>
                <a:schemeClr val="tx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AF17D13E-4F6F-91B5-B943-EA995AB6F7FA}"/>
              </a:ext>
            </a:extLst>
          </p:cNvPr>
          <p:cNvSpPr txBox="1"/>
          <p:nvPr/>
        </p:nvSpPr>
        <p:spPr>
          <a:xfrm>
            <a:off x="366644" y="5086696"/>
            <a:ext cx="1161887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de-AT" sz="1800" dirty="0">
                <a:latin typeface="Bahnschrift SemiBold SemiConden" panose="020B0502040204020203" pitchFamily="34" charset="0"/>
              </a:rPr>
              <a:t> </a:t>
            </a:r>
          </a:p>
          <a:p>
            <a:pPr algn="ctr"/>
            <a:r>
              <a:rPr lang="en-US" sz="2800" b="0" i="0" dirty="0">
                <a:solidFill>
                  <a:srgbClr val="333333"/>
                </a:solidFill>
                <a:effectLst/>
                <a:latin typeface="Helvetica Neue"/>
              </a:rPr>
              <a:t>Building human capacity and preparing for </a:t>
            </a:r>
            <a:r>
              <a:rPr lang="en-US" sz="2800" b="0" i="0" dirty="0" err="1">
                <a:solidFill>
                  <a:srgbClr val="333333"/>
                </a:solidFill>
                <a:effectLst/>
                <a:latin typeface="Helvetica Neue"/>
              </a:rPr>
              <a:t>labour</a:t>
            </a:r>
            <a:r>
              <a:rPr lang="en-US" sz="2800" b="0" i="0" dirty="0">
                <a:solidFill>
                  <a:srgbClr val="333333"/>
                </a:solidFill>
                <a:effectLst/>
                <a:latin typeface="Helvetica Neue"/>
              </a:rPr>
              <a:t> market transformation</a:t>
            </a:r>
          </a:p>
          <a:p>
            <a:pPr marL="0" indent="0" algn="ctr">
              <a:buNone/>
            </a:pPr>
            <a:endParaRPr lang="de-AT" sz="1800" dirty="0">
              <a:latin typeface="Bahnschrift SemiBold SemiConden" panose="020B0502040204020203" pitchFamily="34" charset="0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BDA2005-AC91-2CCA-A3B3-6F490C908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23984"/>
            <a:ext cx="2656428" cy="397491"/>
          </a:xfrm>
        </p:spPr>
        <p:txBody>
          <a:bodyPr/>
          <a:lstStyle/>
          <a:p>
            <a:fld id="{8D9F8BDF-0308-42D0-BC20-19EDCB70EC27}" type="slidenum">
              <a:rPr lang="de-AT" smtClean="0">
                <a:latin typeface="Bahnschrift SemiBold SemiConden" panose="020B0502040204020203" pitchFamily="34" charset="0"/>
              </a:rPr>
              <a:t>20</a:t>
            </a:fld>
            <a:endParaRPr lang="de-AT">
              <a:latin typeface="Bahnschrift SemiBold SemiConden" panose="020B0502040204020203" pitchFamily="34" charset="0"/>
            </a:endParaRP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9E50C8C3-0377-CDA1-59C7-71FFE6D102B0}"/>
              </a:ext>
            </a:extLst>
          </p:cNvPr>
          <p:cNvSpPr txBox="1"/>
          <p:nvPr/>
        </p:nvSpPr>
        <p:spPr>
          <a:xfrm>
            <a:off x="459350" y="3568790"/>
            <a:ext cx="79514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0" i="0" dirty="0">
                <a:solidFill>
                  <a:srgbClr val="333333"/>
                </a:solidFill>
                <a:effectLst/>
                <a:latin typeface="Helvetica Neue"/>
              </a:rPr>
              <a:t>Shaping an enabling policy environment for AI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3E64EE98-568A-4CC7-205C-34DEDD9D8ED7}"/>
              </a:ext>
            </a:extLst>
          </p:cNvPr>
          <p:cNvSpPr txBox="1"/>
          <p:nvPr/>
        </p:nvSpPr>
        <p:spPr>
          <a:xfrm>
            <a:off x="525432" y="2631668"/>
            <a:ext cx="61420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de-AT" sz="2800" b="0" i="0" dirty="0" err="1">
                <a:solidFill>
                  <a:srgbClr val="333333"/>
                </a:solidFill>
                <a:effectLst/>
                <a:latin typeface="Helvetica Neue"/>
              </a:rPr>
              <a:t>Fostering</a:t>
            </a:r>
            <a:r>
              <a:rPr lang="de-AT" sz="2800" b="0" i="0" dirty="0">
                <a:solidFill>
                  <a:srgbClr val="333333"/>
                </a:solidFill>
                <a:effectLst/>
                <a:latin typeface="Helvetica Neue"/>
              </a:rPr>
              <a:t> a digital </a:t>
            </a:r>
            <a:r>
              <a:rPr lang="de-AT" sz="2800" b="0" i="0" dirty="0" err="1">
                <a:solidFill>
                  <a:srgbClr val="333333"/>
                </a:solidFill>
                <a:effectLst/>
                <a:latin typeface="Helvetica Neue"/>
              </a:rPr>
              <a:t>ecosystem</a:t>
            </a:r>
            <a:r>
              <a:rPr lang="de-AT" sz="2800" b="0" i="0" dirty="0">
                <a:solidFill>
                  <a:srgbClr val="333333"/>
                </a:solidFill>
                <a:effectLst/>
                <a:latin typeface="Helvetica Neue"/>
              </a:rPr>
              <a:t> </a:t>
            </a:r>
            <a:r>
              <a:rPr lang="de-AT" sz="2800" b="0" i="0" dirty="0" err="1">
                <a:solidFill>
                  <a:srgbClr val="333333"/>
                </a:solidFill>
                <a:effectLst/>
                <a:latin typeface="Helvetica Neue"/>
              </a:rPr>
              <a:t>for</a:t>
            </a:r>
            <a:r>
              <a:rPr lang="de-AT" sz="2800" b="0" i="0" dirty="0">
                <a:solidFill>
                  <a:srgbClr val="333333"/>
                </a:solidFill>
                <a:effectLst/>
                <a:latin typeface="Helvetica Neue"/>
              </a:rPr>
              <a:t> AI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A778DF21-6DB9-CD63-6B30-1AC8681F2DDB}"/>
              </a:ext>
            </a:extLst>
          </p:cNvPr>
          <p:cNvSpPr txBox="1"/>
          <p:nvPr/>
        </p:nvSpPr>
        <p:spPr>
          <a:xfrm>
            <a:off x="467727" y="4488077"/>
            <a:ext cx="76845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0" i="0" dirty="0">
                <a:solidFill>
                  <a:srgbClr val="333333"/>
                </a:solidFill>
                <a:effectLst/>
                <a:latin typeface="Helvetica Neue"/>
              </a:rPr>
              <a:t>International cooperation for trustworthy AI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EA57D70-67F2-BFE8-FC17-936A9CE39E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2093" y="845909"/>
            <a:ext cx="966136" cy="780096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76301B3A-DD32-C8F9-E7E6-7E5DADDA4981}"/>
              </a:ext>
            </a:extLst>
          </p:cNvPr>
          <p:cNvSpPr txBox="1"/>
          <p:nvPr/>
        </p:nvSpPr>
        <p:spPr>
          <a:xfrm>
            <a:off x="325944" y="6632457"/>
            <a:ext cx="644848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1" i="0" dirty="0">
                <a:effectLst/>
                <a:latin typeface="-apple-system"/>
              </a:rPr>
              <a:t>Quelle: GPAI – Global Partnership on Artificial Intelligence: </a:t>
            </a:r>
            <a:r>
              <a:rPr lang="en-US" sz="900" dirty="0">
                <a:latin typeface="-apple-system"/>
              </a:rPr>
              <a:t>https://www.gpai.ai</a:t>
            </a:r>
            <a:endParaRPr lang="en-US" sz="900" b="0" i="0" dirty="0">
              <a:effectLst/>
              <a:latin typeface="-apple-system"/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A56A4542-5785-6C00-9A26-4D76538A30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2054" y="2746065"/>
            <a:ext cx="2666418" cy="2265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4749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86F97C1-F8E8-7032-D128-12BA8CE93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057" y="287783"/>
            <a:ext cx="3577702" cy="135543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6E0B1B64-1FC3-18E5-EA1D-C09AB7EC81FE}"/>
              </a:ext>
            </a:extLst>
          </p:cNvPr>
          <p:cNvSpPr/>
          <p:nvPr/>
        </p:nvSpPr>
        <p:spPr>
          <a:xfrm>
            <a:off x="-15957" y="2993687"/>
            <a:ext cx="4037839" cy="9930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2400" b="1" dirty="0">
                <a:latin typeface="Helvetica Neue"/>
              </a:rPr>
              <a:t>AIMS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DEE4BF9D-C112-EDF2-B8AD-57EBD6F73D02}"/>
              </a:ext>
            </a:extLst>
          </p:cNvPr>
          <p:cNvSpPr/>
          <p:nvPr/>
        </p:nvSpPr>
        <p:spPr>
          <a:xfrm>
            <a:off x="4433449" y="2065727"/>
            <a:ext cx="5015943" cy="7767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 dirty="0">
                <a:solidFill>
                  <a:schemeClr val="bg1"/>
                </a:solidFill>
                <a:effectLst/>
                <a:latin typeface="Helvetica Neue"/>
              </a:rPr>
              <a:t>sharing multidisciplinary research</a:t>
            </a:r>
            <a:endParaRPr lang="de-AT" dirty="0">
              <a:solidFill>
                <a:schemeClr val="bg1"/>
              </a:solidFill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2C50EB36-AD5B-0FC3-CDDC-626508B04C08}"/>
              </a:ext>
            </a:extLst>
          </p:cNvPr>
          <p:cNvSpPr/>
          <p:nvPr/>
        </p:nvSpPr>
        <p:spPr>
          <a:xfrm>
            <a:off x="4433449" y="2988468"/>
            <a:ext cx="5022541" cy="795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 dirty="0">
                <a:solidFill>
                  <a:schemeClr val="bg1"/>
                </a:solidFill>
                <a:effectLst/>
                <a:latin typeface="Helvetica Neue"/>
              </a:rPr>
              <a:t>identifying key issues among AI</a:t>
            </a:r>
            <a:endParaRPr lang="de-AT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D75ECEC4-3528-B986-3D82-2EB8683ED96F}"/>
              </a:ext>
            </a:extLst>
          </p:cNvPr>
          <p:cNvSpPr/>
          <p:nvPr/>
        </p:nvSpPr>
        <p:spPr>
          <a:xfrm>
            <a:off x="4433449" y="3903321"/>
            <a:ext cx="5022542" cy="7767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b="1" dirty="0" err="1">
                <a:latin typeface="Helvetica Neue"/>
              </a:rPr>
              <a:t>facilitating</a:t>
            </a:r>
            <a:r>
              <a:rPr lang="de-AT" b="1" dirty="0">
                <a:latin typeface="Helvetica Neue"/>
              </a:rPr>
              <a:t> international </a:t>
            </a:r>
            <a:r>
              <a:rPr lang="de-AT" b="1" dirty="0" err="1">
                <a:latin typeface="Helvetica Neue"/>
              </a:rPr>
              <a:t>collaboration</a:t>
            </a:r>
            <a:endParaRPr lang="de-AT" b="1" dirty="0">
              <a:latin typeface="Helvetica Neue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29795FF-509F-1CC7-DB7D-02E53464EFE3}"/>
              </a:ext>
            </a:extLst>
          </p:cNvPr>
          <p:cNvSpPr/>
          <p:nvPr/>
        </p:nvSpPr>
        <p:spPr>
          <a:xfrm>
            <a:off x="4433449" y="4799874"/>
            <a:ext cx="5022542" cy="9410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Helvetica Neue"/>
              </a:rPr>
              <a:t>promoting trust in and the adoption of trustworthy AI</a:t>
            </a:r>
            <a:endParaRPr lang="de-AT" b="1" dirty="0">
              <a:latin typeface="Helvetica Neue"/>
            </a:endParaRPr>
          </a:p>
        </p:txBody>
      </p:sp>
      <p:sp>
        <p:nvSpPr>
          <p:cNvPr id="20" name="Pfeil: nach unten 19">
            <a:extLst>
              <a:ext uri="{FF2B5EF4-FFF2-40B4-BE49-F238E27FC236}">
                <a16:creationId xmlns:a16="http://schemas.microsoft.com/office/drawing/2014/main" id="{FECE1102-CAC6-33C1-5940-703D53170F09}"/>
              </a:ext>
            </a:extLst>
          </p:cNvPr>
          <p:cNvSpPr/>
          <p:nvPr/>
        </p:nvSpPr>
        <p:spPr>
          <a:xfrm rot="16200000">
            <a:off x="5391718" y="6079908"/>
            <a:ext cx="310719" cy="47939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BE29E156-9092-0FF0-2E67-DB228EA83581}"/>
              </a:ext>
            </a:extLst>
          </p:cNvPr>
          <p:cNvSpPr txBox="1"/>
          <p:nvPr/>
        </p:nvSpPr>
        <p:spPr>
          <a:xfrm>
            <a:off x="5954022" y="6134939"/>
            <a:ext cx="5313156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AT" dirty="0"/>
              <a:t>Scientific, </a:t>
            </a:r>
            <a:r>
              <a:rPr lang="de-AT" dirty="0" err="1"/>
              <a:t>technical</a:t>
            </a:r>
            <a:r>
              <a:rPr lang="de-AT" dirty="0"/>
              <a:t> and </a:t>
            </a:r>
            <a:r>
              <a:rPr lang="de-AT" dirty="0" err="1"/>
              <a:t>socio-economic</a:t>
            </a:r>
            <a:r>
              <a:rPr lang="de-AT" dirty="0"/>
              <a:t> </a:t>
            </a:r>
            <a:r>
              <a:rPr lang="de-AT" dirty="0" err="1"/>
              <a:t>informations</a:t>
            </a:r>
            <a:r>
              <a:rPr lang="de-AT" dirty="0"/>
              <a:t>!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9E1F0D3-7350-9AAE-1D14-CEF3926D7D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6055" y="584850"/>
            <a:ext cx="2219635" cy="3486637"/>
          </a:xfrm>
          <a:prstGeom prst="rect">
            <a:avLst/>
          </a:prstGeom>
        </p:spPr>
      </p:pic>
      <p:pic>
        <p:nvPicPr>
          <p:cNvPr id="5" name="Grafik 1">
            <a:extLst>
              <a:ext uri="{FF2B5EF4-FFF2-40B4-BE49-F238E27FC236}">
                <a16:creationId xmlns:a16="http://schemas.microsoft.com/office/drawing/2014/main" id="{82B91EF2-63AB-5F09-D713-EB9F8C8090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851" y="800374"/>
            <a:ext cx="8901448" cy="86224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593107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86F97C1-F8E8-7032-D128-12BA8CE93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057" y="287783"/>
            <a:ext cx="3577702" cy="135543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6E0B1B64-1FC3-18E5-EA1D-C09AB7EC81FE}"/>
              </a:ext>
            </a:extLst>
          </p:cNvPr>
          <p:cNvSpPr/>
          <p:nvPr/>
        </p:nvSpPr>
        <p:spPr>
          <a:xfrm>
            <a:off x="-15957" y="2993687"/>
            <a:ext cx="4037839" cy="9930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2400" b="1" dirty="0">
                <a:latin typeface="Helvetica Neue"/>
              </a:rPr>
              <a:t>WORKING GROUPS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DEE4BF9D-C112-EDF2-B8AD-57EBD6F73D02}"/>
              </a:ext>
            </a:extLst>
          </p:cNvPr>
          <p:cNvSpPr/>
          <p:nvPr/>
        </p:nvSpPr>
        <p:spPr>
          <a:xfrm>
            <a:off x="5041907" y="2077270"/>
            <a:ext cx="5069447" cy="7767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 dirty="0">
                <a:solidFill>
                  <a:schemeClr val="bg1"/>
                </a:solidFill>
                <a:effectLst/>
                <a:latin typeface="Helvetica Neue"/>
              </a:rPr>
              <a:t>Responsible AI</a:t>
            </a:r>
            <a:endParaRPr lang="de-AT" dirty="0">
              <a:solidFill>
                <a:schemeClr val="bg1"/>
              </a:solidFill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2C50EB36-AD5B-0FC3-CDDC-626508B04C08}"/>
              </a:ext>
            </a:extLst>
          </p:cNvPr>
          <p:cNvSpPr/>
          <p:nvPr/>
        </p:nvSpPr>
        <p:spPr>
          <a:xfrm>
            <a:off x="5066689" y="2988468"/>
            <a:ext cx="5022541" cy="795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 dirty="0">
                <a:solidFill>
                  <a:schemeClr val="bg1"/>
                </a:solidFill>
                <a:effectLst/>
                <a:latin typeface="Helvetica Neue"/>
              </a:rPr>
              <a:t>Data governance</a:t>
            </a:r>
            <a:endParaRPr lang="de-AT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D75ECEC4-3528-B986-3D82-2EB8683ED96F}"/>
              </a:ext>
            </a:extLst>
          </p:cNvPr>
          <p:cNvSpPr/>
          <p:nvPr/>
        </p:nvSpPr>
        <p:spPr>
          <a:xfrm>
            <a:off x="5064240" y="3955046"/>
            <a:ext cx="5022542" cy="7767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b="1" dirty="0">
                <a:latin typeface="Helvetica Neue"/>
              </a:rPr>
              <a:t>The </a:t>
            </a:r>
            <a:r>
              <a:rPr lang="de-AT" b="1" dirty="0" err="1">
                <a:latin typeface="Helvetica Neue"/>
              </a:rPr>
              <a:t>future</a:t>
            </a:r>
            <a:r>
              <a:rPr lang="de-AT" b="1" dirty="0">
                <a:latin typeface="Helvetica Neue"/>
              </a:rPr>
              <a:t> </a:t>
            </a:r>
            <a:r>
              <a:rPr lang="de-AT" b="1" dirty="0" err="1">
                <a:latin typeface="Helvetica Neue"/>
              </a:rPr>
              <a:t>of</a:t>
            </a:r>
            <a:r>
              <a:rPr lang="de-AT" b="1" dirty="0">
                <a:latin typeface="Helvetica Neue"/>
              </a:rPr>
              <a:t> </a:t>
            </a:r>
            <a:r>
              <a:rPr lang="de-AT" b="1" dirty="0" err="1">
                <a:latin typeface="Helvetica Neue"/>
              </a:rPr>
              <a:t>work</a:t>
            </a:r>
            <a:endParaRPr lang="de-AT" b="1" dirty="0">
              <a:latin typeface="Helvetica Neue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29795FF-509F-1CC7-DB7D-02E53464EFE3}"/>
              </a:ext>
            </a:extLst>
          </p:cNvPr>
          <p:cNvSpPr/>
          <p:nvPr/>
        </p:nvSpPr>
        <p:spPr>
          <a:xfrm>
            <a:off x="5064240" y="4921751"/>
            <a:ext cx="5022542" cy="9410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Helvetica Neue"/>
              </a:rPr>
              <a:t>Innovation &amp; </a:t>
            </a:r>
            <a:r>
              <a:rPr lang="en-US" b="1" dirty="0" err="1">
                <a:latin typeface="Helvetica Neue"/>
              </a:rPr>
              <a:t>commercialisation</a:t>
            </a:r>
            <a:endParaRPr lang="de-AT" b="1" dirty="0">
              <a:latin typeface="Helvetica Neue"/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33BE3AA-B567-BF23-4D17-5D2EB1A4CE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214" y="2065727"/>
            <a:ext cx="1231564" cy="799835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ACC2F2CF-B835-C29E-102D-241283D3B7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3643" y="3018942"/>
            <a:ext cx="1191057" cy="799835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512AB216-020B-CA81-3C77-2B82FBAF2B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8214" y="3968138"/>
            <a:ext cx="1188581" cy="775756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E9DB5268-C04C-8F04-2E98-793EFCC0DD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3643" y="4931289"/>
            <a:ext cx="1188581" cy="931503"/>
          </a:xfrm>
          <a:prstGeom prst="rect">
            <a:avLst/>
          </a:prstGeom>
        </p:spPr>
      </p:pic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2B713644-47B6-FA2D-9795-CEBCD50563AB}"/>
              </a:ext>
            </a:extLst>
          </p:cNvPr>
          <p:cNvCxnSpPr>
            <a:stCxn id="28" idx="3"/>
            <a:endCxn id="30" idx="1"/>
          </p:cNvCxnSpPr>
          <p:nvPr/>
        </p:nvCxnSpPr>
        <p:spPr>
          <a:xfrm flipV="1">
            <a:off x="4021882" y="2465644"/>
            <a:ext cx="1020025" cy="10245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8C00EBCD-9476-D8DE-D1F1-90DB3E0A3F4F}"/>
              </a:ext>
            </a:extLst>
          </p:cNvPr>
          <p:cNvCxnSpPr>
            <a:stCxn id="28" idx="3"/>
            <a:endCxn id="4" idx="1"/>
          </p:cNvCxnSpPr>
          <p:nvPr/>
        </p:nvCxnSpPr>
        <p:spPr>
          <a:xfrm flipV="1">
            <a:off x="4021882" y="3385992"/>
            <a:ext cx="1044807" cy="1042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FF73B387-B803-3345-0CD7-47C551F0CFEB}"/>
              </a:ext>
            </a:extLst>
          </p:cNvPr>
          <p:cNvCxnSpPr>
            <a:stCxn id="28" idx="3"/>
            <a:endCxn id="6" idx="1"/>
          </p:cNvCxnSpPr>
          <p:nvPr/>
        </p:nvCxnSpPr>
        <p:spPr>
          <a:xfrm>
            <a:off x="4021882" y="3490216"/>
            <a:ext cx="1042358" cy="8532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A16468AA-E64C-A16E-64C7-F6233FAF1342}"/>
              </a:ext>
            </a:extLst>
          </p:cNvPr>
          <p:cNvCxnSpPr>
            <a:stCxn id="28" idx="3"/>
            <a:endCxn id="7" idx="1"/>
          </p:cNvCxnSpPr>
          <p:nvPr/>
        </p:nvCxnSpPr>
        <p:spPr>
          <a:xfrm>
            <a:off x="4021882" y="3490216"/>
            <a:ext cx="1042358" cy="19020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feld 34">
            <a:extLst>
              <a:ext uri="{FF2B5EF4-FFF2-40B4-BE49-F238E27FC236}">
                <a16:creationId xmlns:a16="http://schemas.microsoft.com/office/drawing/2014/main" id="{E5D1592B-1A35-E096-307B-00D3F89E7CEA}"/>
              </a:ext>
            </a:extLst>
          </p:cNvPr>
          <p:cNvSpPr txBox="1"/>
          <p:nvPr/>
        </p:nvSpPr>
        <p:spPr>
          <a:xfrm>
            <a:off x="0" y="6568839"/>
            <a:ext cx="828367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1" i="0" dirty="0">
                <a:solidFill>
                  <a:schemeClr val="bg1"/>
                </a:solidFill>
                <a:effectLst/>
                <a:latin typeface="-apple-system"/>
              </a:rPr>
              <a:t>Quelle: GPAI – Global Partnership on Artificial Intelligence: </a:t>
            </a:r>
            <a:r>
              <a:rPr lang="en-US" sz="900" dirty="0">
                <a:solidFill>
                  <a:schemeClr val="bg1"/>
                </a:solidFill>
                <a:latin typeface="-apple-system"/>
              </a:rPr>
              <a:t>https://www.gpai.ai</a:t>
            </a:r>
            <a:endParaRPr lang="en-US" sz="900" b="0" i="0" dirty="0">
              <a:solidFill>
                <a:schemeClr val="bg1"/>
              </a:solidFill>
              <a:effectLst/>
              <a:latin typeface="-apple-system"/>
            </a:endParaRPr>
          </a:p>
        </p:txBody>
      </p:sp>
      <p:pic>
        <p:nvPicPr>
          <p:cNvPr id="5" name="Grafik 1">
            <a:extLst>
              <a:ext uri="{FF2B5EF4-FFF2-40B4-BE49-F238E27FC236}">
                <a16:creationId xmlns:a16="http://schemas.microsoft.com/office/drawing/2014/main" id="{04AAC038-CF71-CBC2-6105-098E8679A6A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851" y="800374"/>
            <a:ext cx="8901448" cy="86224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574978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37">
            <a:extLst>
              <a:ext uri="{FF2B5EF4-FFF2-40B4-BE49-F238E27FC236}">
                <a16:creationId xmlns:a16="http://schemas.microsoft.com/office/drawing/2014/main" id="{3AFE8227-C443-417B-BA91-520EB1EF4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39">
            <a:extLst>
              <a:ext uri="{FF2B5EF4-FFF2-40B4-BE49-F238E27FC236}">
                <a16:creationId xmlns:a16="http://schemas.microsoft.com/office/drawing/2014/main" id="{907741FC-B544-4A6E-B831-6789D0423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6408741"/>
            <a:ext cx="12191998" cy="45720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1">
            <a:extLst>
              <a:ext uri="{FF2B5EF4-FFF2-40B4-BE49-F238E27FC236}">
                <a16:creationId xmlns:a16="http://schemas.microsoft.com/office/drawing/2014/main" id="{3F0BE7ED-7814-4273-B18A-F26CC038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6408742"/>
            <a:ext cx="8115300" cy="449258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B66D7EA-4208-995A-D482-02A9D442F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F8BDF-0308-42D0-BC20-19EDCB70EC27}" type="slidenum">
              <a:rPr lang="de-AT" smtClean="0"/>
              <a:t>23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7042344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600FDE16-4AF3-C570-1D0A-C6BEC38F9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de-AT" sz="4000" dirty="0" err="1">
                <a:solidFill>
                  <a:srgbClr val="FFFFFF"/>
                </a:solidFill>
              </a:rPr>
              <a:t>Perspectives</a:t>
            </a:r>
            <a:endParaRPr lang="de-AT" sz="4000" dirty="0">
              <a:solidFill>
                <a:srgbClr val="FFFFFF"/>
              </a:solidFill>
            </a:endParaRP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1293F1AE-1293-982C-D8E6-4AFC0E8488DF}"/>
              </a:ext>
            </a:extLst>
          </p:cNvPr>
          <p:cNvSpPr>
            <a:spLocks noGrp="1"/>
          </p:cNvSpPr>
          <p:nvPr>
            <p:ph idx="1"/>
          </p:nvPr>
        </p:nvSpPr>
        <p:spPr>
          <a:xfrm rot="404133">
            <a:off x="3654255" y="2226220"/>
            <a:ext cx="2593083" cy="811502"/>
          </a:xfrm>
          <a:solidFill>
            <a:schemeClr val="accent4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de-AT" dirty="0"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lang="de-AT" dirty="0" err="1">
                <a:latin typeface="Arial" panose="020B0604020202020204" pitchFamily="34" charset="0"/>
                <a:ea typeface="Times New Roman" panose="02020603050405020304" pitchFamily="18" charset="0"/>
              </a:rPr>
              <a:t>digitalization</a:t>
            </a:r>
            <a:r>
              <a:rPr lang="de-AT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endParaRPr lang="de-AT" sz="3200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767FDD4-05E7-B6D3-7865-F68855E60A89}"/>
              </a:ext>
            </a:extLst>
          </p:cNvPr>
          <p:cNvSpPr txBox="1"/>
          <p:nvPr/>
        </p:nvSpPr>
        <p:spPr>
          <a:xfrm>
            <a:off x="2133875" y="6311900"/>
            <a:ext cx="652935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de-AT" sz="1100" dirty="0"/>
              <a:t> </a:t>
            </a:r>
            <a:endParaRPr lang="de-AT" sz="110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E2CF8015-94DF-3230-231A-CF65CCEB6F0E}"/>
              </a:ext>
            </a:extLst>
          </p:cNvPr>
          <p:cNvSpPr txBox="1"/>
          <p:nvPr/>
        </p:nvSpPr>
        <p:spPr>
          <a:xfrm rot="20894375">
            <a:off x="150890" y="3346805"/>
            <a:ext cx="2922982" cy="5232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AT" sz="2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human </a:t>
            </a:r>
            <a:r>
              <a:rPr lang="de-AT" sz="2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rights</a:t>
            </a:r>
            <a:endParaRPr lang="de-AT" sz="2800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F4732701-3C15-2FDA-AF22-74DE25144995}"/>
              </a:ext>
            </a:extLst>
          </p:cNvPr>
          <p:cNvSpPr txBox="1"/>
          <p:nvPr/>
        </p:nvSpPr>
        <p:spPr>
          <a:xfrm rot="711627">
            <a:off x="8844758" y="5759442"/>
            <a:ext cx="2274885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AT" sz="2800" dirty="0">
                <a:latin typeface="Arial" panose="020B0604020202020204" pitchFamily="34" charset="0"/>
              </a:rPr>
              <a:t> human </a:t>
            </a:r>
            <a:r>
              <a:rPr lang="de-AT" sz="2800" dirty="0" err="1">
                <a:latin typeface="Arial" panose="020B0604020202020204" pitchFamily="34" charset="0"/>
              </a:rPr>
              <a:t>risks</a:t>
            </a:r>
            <a:endParaRPr lang="de-AT" sz="2800" dirty="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D0C368C2-7623-D2C0-AD6D-245915AA8838}"/>
              </a:ext>
            </a:extLst>
          </p:cNvPr>
          <p:cNvSpPr txBox="1"/>
          <p:nvPr/>
        </p:nvSpPr>
        <p:spPr>
          <a:xfrm rot="21161871">
            <a:off x="6114340" y="5041771"/>
            <a:ext cx="3676731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AT" sz="2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de-AT" sz="2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impact</a:t>
            </a:r>
            <a:r>
              <a:rPr lang="de-AT" sz="2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on </a:t>
            </a:r>
            <a:r>
              <a:rPr lang="de-AT" sz="2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democracy</a:t>
            </a:r>
            <a:endParaRPr lang="de-AT" sz="2800" dirty="0">
              <a:latin typeface="Arial" panose="020B0604020202020204" pitchFamily="34" charset="0"/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CEC3B8C3-D7FD-9D88-E0C4-26879C226D01}"/>
              </a:ext>
            </a:extLst>
          </p:cNvPr>
          <p:cNvSpPr txBox="1"/>
          <p:nvPr/>
        </p:nvSpPr>
        <p:spPr>
          <a:xfrm rot="529086">
            <a:off x="380986" y="5167873"/>
            <a:ext cx="4340266" cy="5847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AT" sz="3200" dirty="0">
                <a:latin typeface="Arial" panose="020B0604020202020204" pitchFamily="34" charset="0"/>
              </a:rPr>
              <a:t> (international) </a:t>
            </a:r>
            <a:r>
              <a:rPr lang="de-AT" sz="3200" dirty="0" err="1">
                <a:latin typeface="Arial" panose="020B0604020202020204" pitchFamily="34" charset="0"/>
              </a:rPr>
              <a:t>security</a:t>
            </a:r>
            <a:endParaRPr lang="de-AT" sz="3200" dirty="0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A35FC687-6970-82E6-EDFD-FE68DEAE37A4}"/>
              </a:ext>
            </a:extLst>
          </p:cNvPr>
          <p:cNvSpPr txBox="1"/>
          <p:nvPr/>
        </p:nvSpPr>
        <p:spPr>
          <a:xfrm rot="1117653">
            <a:off x="6911577" y="3302730"/>
            <a:ext cx="4930805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AT" sz="2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global </a:t>
            </a:r>
            <a:r>
              <a:rPr lang="de-AT" sz="2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controling</a:t>
            </a:r>
            <a:r>
              <a:rPr lang="de-AT" sz="2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de-AT" sz="2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instruments</a:t>
            </a:r>
            <a:endParaRPr lang="de-AT" sz="2800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5EEA573D-654C-25B8-B487-136795D41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F8BDF-0308-42D0-BC20-19EDCB70EC27}" type="slidenum">
              <a:rPr lang="de-AT" smtClean="0"/>
              <a:t>24</a:t>
            </a:fld>
            <a:endParaRPr lang="de-AT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F4E0AA70-2033-02F5-8A1A-2B5406A4851A}"/>
              </a:ext>
            </a:extLst>
          </p:cNvPr>
          <p:cNvSpPr txBox="1"/>
          <p:nvPr/>
        </p:nvSpPr>
        <p:spPr>
          <a:xfrm>
            <a:off x="3767701" y="3904722"/>
            <a:ext cx="3261704" cy="5847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AT" sz="3200" dirty="0" err="1"/>
              <a:t>ethical</a:t>
            </a:r>
            <a:r>
              <a:rPr lang="de-AT" sz="3200" dirty="0"/>
              <a:t> </a:t>
            </a:r>
            <a:r>
              <a:rPr lang="de-AT" sz="3200" dirty="0" err="1"/>
              <a:t>guidelines</a:t>
            </a:r>
            <a:endParaRPr lang="de-AT" sz="3200" dirty="0"/>
          </a:p>
        </p:txBody>
      </p:sp>
    </p:spTree>
    <p:extLst>
      <p:ext uri="{BB962C8B-B14F-4D97-AF65-F5344CB8AC3E}">
        <p14:creationId xmlns:p14="http://schemas.microsoft.com/office/powerpoint/2010/main" val="35954521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8D0D6D3E-D7F9-4591-9CA9-DDF4DB1F7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6CA7B0C-5458-406E-4171-C47993CF6F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4520" y="1422446"/>
            <a:ext cx="7541258" cy="504496"/>
          </a:xfrm>
        </p:spPr>
        <p:txBody>
          <a:bodyPr anchor="b">
            <a:noAutofit/>
          </a:bodyPr>
          <a:lstStyle/>
          <a:p>
            <a:pPr algn="l"/>
            <a:r>
              <a:rPr lang="de-AT" sz="1800" b="1" dirty="0">
                <a:latin typeface="Bahnschrift SemiLight SemiConde" panose="020B0502040204020203" pitchFamily="34" charset="0"/>
              </a:rPr>
              <a:t>Abb.1 Global </a:t>
            </a:r>
            <a:r>
              <a:rPr lang="de-AT" sz="1800" b="1" dirty="0" err="1">
                <a:latin typeface="Bahnschrift SemiLight SemiConde" panose="020B0502040204020203" pitchFamily="34" charset="0"/>
              </a:rPr>
              <a:t>Governance</a:t>
            </a:r>
            <a:r>
              <a:rPr lang="de-AT" sz="1800" b="1" dirty="0">
                <a:latin typeface="Bahnschrift SemiLight SemiConde" panose="020B0502040204020203" pitchFamily="34" charset="0"/>
              </a:rPr>
              <a:t> AI </a:t>
            </a:r>
            <a:endParaRPr lang="en-US" sz="5400" dirty="0">
              <a:solidFill>
                <a:schemeClr val="tx1">
                  <a:lumMod val="75000"/>
                  <a:lumOff val="25000"/>
                </a:schemeClr>
              </a:solidFill>
              <a:latin typeface="Bahnschrift SemiLight SemiConde" panose="020B0502040204020203" pitchFamily="34" charset="0"/>
            </a:endParaRPr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23336" y="-3"/>
            <a:ext cx="4068664" cy="6858000"/>
          </a:xfrm>
          <a:prstGeom prst="rect">
            <a:avLst/>
          </a:prstGeom>
          <a:gradFill>
            <a:gsLst>
              <a:gs pos="26000">
                <a:srgbClr val="000000"/>
              </a:gs>
              <a:gs pos="100000">
                <a:schemeClr val="accent1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23336" y="-3"/>
            <a:ext cx="3611463" cy="6858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6000"/>
                </a:schemeClr>
              </a:gs>
              <a:gs pos="100000">
                <a:srgbClr val="000000">
                  <a:alpha val="52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230721" y="-107390"/>
            <a:ext cx="3853890" cy="4068665"/>
          </a:xfrm>
          <a:prstGeom prst="rect">
            <a:avLst/>
          </a:prstGeom>
          <a:gradFill>
            <a:gsLst>
              <a:gs pos="0">
                <a:srgbClr val="000000">
                  <a:alpha val="34000"/>
                </a:srgbClr>
              </a:gs>
              <a:gs pos="96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4A4B427-8082-5D88-931C-2C717D570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F8BDF-0308-42D0-BC20-19EDCB70EC27}" type="slidenum">
              <a:rPr lang="de-AT" smtClean="0"/>
              <a:t>25</a:t>
            </a:fld>
            <a:endParaRPr lang="de-AT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EC2E06D6-11A5-C0CC-FD8A-84D3210C796E}"/>
              </a:ext>
            </a:extLst>
          </p:cNvPr>
          <p:cNvSpPr txBox="1"/>
          <p:nvPr/>
        </p:nvSpPr>
        <p:spPr>
          <a:xfrm>
            <a:off x="852279" y="1926942"/>
            <a:ext cx="71586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dirty="0"/>
              <a:t>https://medium.com/@officialprateekraj/global-governance-gap-patching-the-ip-framework-for-ai-in-2024-8edef3fd5748</a:t>
            </a:r>
          </a:p>
        </p:txBody>
      </p:sp>
    </p:spTree>
    <p:extLst>
      <p:ext uri="{BB962C8B-B14F-4D97-AF65-F5344CB8AC3E}">
        <p14:creationId xmlns:p14="http://schemas.microsoft.com/office/powerpoint/2010/main" val="3866550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933</Words>
  <Application>Microsoft Office PowerPoint</Application>
  <PresentationFormat>Widescreen</PresentationFormat>
  <Paragraphs>257</Paragraphs>
  <Slides>25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7" baseType="lpstr">
      <vt:lpstr>Adobe Devanagari</vt:lpstr>
      <vt:lpstr>-apple-system</vt:lpstr>
      <vt:lpstr>Arial</vt:lpstr>
      <vt:lpstr>Bahnschrift SemiBold SemiConden</vt:lpstr>
      <vt:lpstr>Bahnschrift SemiLight SemiConde</vt:lpstr>
      <vt:lpstr>Berlin Sans FB Demi</vt:lpstr>
      <vt:lpstr>Calibri</vt:lpstr>
      <vt:lpstr>Calibri Light</vt:lpstr>
      <vt:lpstr>Helvetica Neue</vt:lpstr>
      <vt:lpstr>Times New Roman</vt:lpstr>
      <vt:lpstr>Office</vt:lpstr>
      <vt:lpstr>Office</vt:lpstr>
      <vt:lpstr> </vt:lpstr>
      <vt:lpstr>CONTENTS</vt:lpstr>
      <vt:lpstr>PowerPoint Presentation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PowerPoint Presentation</vt:lpstr>
      <vt:lpstr> </vt:lpstr>
      <vt:lpstr> </vt:lpstr>
      <vt:lpstr>PowerPoint Presentation</vt:lpstr>
      <vt:lpstr>PowerPoint Presentation</vt:lpstr>
      <vt:lpstr>Principles for responsible stewardship of trustworthy AI</vt:lpstr>
      <vt:lpstr>National policies and international cooperation for trustworthy AI</vt:lpstr>
      <vt:lpstr> </vt:lpstr>
      <vt:lpstr> </vt:lpstr>
      <vt:lpstr>PowerPoint Presentation</vt:lpstr>
      <vt:lpstr>Perspectives</vt:lpstr>
      <vt:lpstr>PowerPoint Presentation</vt:lpstr>
    </vt:vector>
  </TitlesOfParts>
  <Company>Fonds Soziales Wien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Koller Petra</dc:creator>
  <cp:lastModifiedBy>Lukas Hofstetter</cp:lastModifiedBy>
  <cp:revision>15</cp:revision>
  <dcterms:created xsi:type="dcterms:W3CDTF">2024-03-20T07:19:59Z</dcterms:created>
  <dcterms:modified xsi:type="dcterms:W3CDTF">2024-04-10T12:44:19Z</dcterms:modified>
</cp:coreProperties>
</file>